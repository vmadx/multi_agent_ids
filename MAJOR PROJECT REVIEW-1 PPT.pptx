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bookmarkIdSeed="2">
  <p:sldMasterIdLst>
    <p:sldMasterId id="2147483648" r:id="rId1"/>
  </p:sldMasterIdLst>
  <p:notesMasterIdLst>
    <p:notesMasterId r:id="rId13"/>
  </p:notesMasterIdLst>
  <p:handoutMasterIdLst>
    <p:handoutMasterId r:id="rId14"/>
  </p:handoutMasterIdLst>
  <p:sldIdLst>
    <p:sldId id="315" r:id="rId2"/>
    <p:sldId id="324" r:id="rId3"/>
    <p:sldId id="333" r:id="rId4"/>
    <p:sldId id="327" r:id="rId5"/>
    <p:sldId id="328" r:id="rId6"/>
    <p:sldId id="329" r:id="rId7"/>
    <p:sldId id="330" r:id="rId8"/>
    <p:sldId id="331" r:id="rId9"/>
    <p:sldId id="332" r:id="rId10"/>
    <p:sldId id="343" r:id="rId11"/>
    <p:sldId id="334"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0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71F1F"/>
    <a:srgbClr val="F45A2A"/>
    <a:srgbClr val="C39BE1"/>
    <a:srgbClr val="85DFFF"/>
    <a:srgbClr val="FAA4F0"/>
    <a:srgbClr val="DB0BC2"/>
    <a:srgbClr val="FFBDBD"/>
    <a:srgbClr val="00B0F0"/>
    <a:srgbClr val="633BF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74" autoAdjust="0"/>
    <p:restoredTop sz="94444" autoAdjust="0"/>
  </p:normalViewPr>
  <p:slideViewPr>
    <p:cSldViewPr snapToGrid="0" showGuides="1">
      <p:cViewPr varScale="1">
        <p:scale>
          <a:sx n="82" d="100"/>
          <a:sy n="82" d="100"/>
        </p:scale>
        <p:origin x="715" y="72"/>
      </p:cViewPr>
      <p:guideLst>
        <p:guide orient="horz" pos="2160"/>
        <p:guide pos="3806"/>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55" d="100"/>
          <a:sy n="55" d="100"/>
        </p:scale>
        <p:origin x="2880" y="7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9B3EC63-DE96-40D9-A8C4-41552D27326F}" type="datetimeFigureOut">
              <a:rPr lang="en-IN" smtClean="0"/>
              <a:t>23-09-2026</a:t>
            </a:fld>
            <a:endParaRPr lang="en-IN"/>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3D31B81-46EF-41DB-AB36-FF830E658FC8}" type="slidenum">
              <a:rPr lang="en-IN" smtClean="0"/>
              <a:t>‹#›</a:t>
            </a:fld>
            <a:endParaRPr lang="en-I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62F1193-CFEC-4502-81BF-8A583D7E65D5}" type="datetimeFigureOut">
              <a:rPr lang="en-IN" smtClean="0"/>
              <a:t>23-09-2026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99ADDA7-76AB-46DB-9BDB-7537D70BDADC}" type="slidenum">
              <a:rPr lang="en-IN" smtClean="0"/>
              <a:t>‹#›</a:t>
            </a:fld>
            <a:endParaRPr lang="en-IN"/>
          </a:p>
        </p:txBody>
      </p:sp>
    </p:spTree>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11" name="Date Placeholder 10"/>
          <p:cNvSpPr>
            <a:spLocks noGrp="1"/>
          </p:cNvSpPr>
          <p:nvPr>
            <p:ph type="dt" sz="half" idx="10"/>
          </p:nvPr>
        </p:nvSpPr>
        <p:spPr/>
        <p:txBody>
          <a:bodyPr/>
          <a:lstStyle/>
          <a:p>
            <a:fld id="{6F80825F-EE60-46B2-B8C7-2F820C19A986}" type="datetime1">
              <a:rPr lang="en-IN" smtClean="0"/>
              <a:t>23-09-2026</a:t>
            </a:fld>
            <a:endParaRPr lang="en-IN" dirty="0"/>
          </a:p>
        </p:txBody>
      </p:sp>
      <p:sp>
        <p:nvSpPr>
          <p:cNvPr id="12" name="Slide Number Placeholder 11"/>
          <p:cNvSpPr>
            <a:spLocks noGrp="1"/>
          </p:cNvSpPr>
          <p:nvPr>
            <p:ph type="sldNum" sz="quarter" idx="11"/>
          </p:nvPr>
        </p:nvSpPr>
        <p:spPr/>
        <p:txBody>
          <a:bodyPr/>
          <a:lstStyle/>
          <a:p>
            <a:r>
              <a:rPr lang="en-IN"/>
              <a:t>1</a:t>
            </a:r>
            <a:endParaRPr lang="en-IN" dirty="0"/>
          </a:p>
        </p:txBody>
      </p:sp>
      <p:sp>
        <p:nvSpPr>
          <p:cNvPr id="13" name="Footer Placeholder 12"/>
          <p:cNvSpPr>
            <a:spLocks noGrp="1"/>
          </p:cNvSpPr>
          <p:nvPr>
            <p:ph type="ftr" sz="quarter" idx="12"/>
          </p:nvPr>
        </p:nvSpPr>
        <p:spPr/>
        <p:txBody>
          <a:bodyPr/>
          <a:lstStyle/>
          <a:p>
            <a:r>
              <a:rPr lang="en-US"/>
              <a:t>Department of </a:t>
            </a:r>
            <a:r>
              <a:rPr lang="en-US" sz="1000"/>
              <a:t>CSE-AIML</a:t>
            </a:r>
            <a:endParaRPr lang="en-US"/>
          </a:p>
          <a:p>
            <a:endParaRPr lang="en-IN"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Footer Placeholder 3"/>
          <p:cNvSpPr>
            <a:spLocks noGrp="1"/>
          </p:cNvSpPr>
          <p:nvPr>
            <p:ph type="ftr" sz="quarter" idx="11"/>
          </p:nvPr>
        </p:nvSpPr>
        <p:spPr/>
        <p:txBody>
          <a:bodyPr/>
          <a:lstStyle/>
          <a:p>
            <a:r>
              <a:rPr lang="en-US"/>
              <a:t>Department of </a:t>
            </a:r>
            <a:r>
              <a:rPr lang="en-US" sz="1000"/>
              <a:t>CSE-AIML</a:t>
            </a:r>
            <a:endParaRPr lang="en-US"/>
          </a:p>
          <a:p>
            <a:endParaRPr lang="en-IN"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tint val="95000"/>
            <a:satMod val="170000"/>
            <a:alpha val="17000"/>
          </a:schemeClr>
        </a:solidFill>
        <a:effectLst/>
      </p:bgPr>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1CF1D114-00F4-4889-996F-98FBEB075A43}" type="datetime1">
              <a:rPr lang="en-IN" smtClean="0"/>
              <a:t>23-09-2026</a:t>
            </a:fld>
            <a:endParaRPr lang="en-IN" dirty="0"/>
          </a:p>
        </p:txBody>
      </p:sp>
      <p:sp>
        <p:nvSpPr>
          <p:cNvPr id="5" name="Footer Placeholder 4"/>
          <p:cNvSpPr>
            <a:spLocks noGrp="1"/>
          </p:cNvSpPr>
          <p:nvPr>
            <p:ph type="ftr" sz="quarter" idx="3"/>
          </p:nvPr>
        </p:nvSpPr>
        <p:spPr>
          <a:xfrm>
            <a:off x="4156165" y="6375310"/>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dirty="0"/>
              <a:t>Department of </a:t>
            </a:r>
            <a:r>
              <a:rPr lang="en-US" sz="1000" dirty="0"/>
              <a:t>CSE-AIML</a:t>
            </a:r>
            <a:endParaRPr lang="en-US" dirty="0"/>
          </a:p>
          <a:p>
            <a:endParaRPr lang="en-IN" dirty="0"/>
          </a:p>
        </p:txBody>
      </p:sp>
      <p:sp>
        <p:nvSpPr>
          <p:cNvPr id="6" name="Slide Number Placeholder 5"/>
          <p:cNvSpPr>
            <a:spLocks noGrp="1"/>
          </p:cNvSpPr>
          <p:nvPr>
            <p:ph type="sldNum" sz="quarter" idx="4"/>
          </p:nvPr>
        </p:nvSpPr>
        <p:spPr>
          <a:xfrm>
            <a:off x="8610600" y="6356352"/>
            <a:ext cx="3024554" cy="365125"/>
          </a:xfrm>
          <a:prstGeom prst="rect">
            <a:avLst/>
          </a:prstGeom>
        </p:spPr>
        <p:txBody>
          <a:bodyPr vert="horz" lIns="91440" tIns="45720" rIns="91440" bIns="45720" rtlCol="0" anchor="ctr"/>
          <a:lstStyle>
            <a:lvl1pPr algn="r">
              <a:defRPr sz="1800" b="1">
                <a:solidFill>
                  <a:schemeClr val="tx1">
                    <a:tint val="75000"/>
                  </a:schemeClr>
                </a:solidFill>
                <a:latin typeface="Times New Roman" panose="02020603050405020304" pitchFamily="18" charset="0"/>
                <a:cs typeface="Times New Roman" panose="02020603050405020304" pitchFamily="18" charset="0"/>
              </a:defRPr>
            </a:lvl1pPr>
          </a:lstStyle>
          <a:p>
            <a:r>
              <a:rPr lang="en-IN" dirty="0"/>
              <a:t>1</a:t>
            </a:r>
          </a:p>
        </p:txBody>
      </p:sp>
      <p:sp>
        <p:nvSpPr>
          <p:cNvPr id="7" name="Rectangle 6"/>
          <p:cNvSpPr/>
          <p:nvPr userDrawn="1"/>
        </p:nvSpPr>
        <p:spPr>
          <a:xfrm>
            <a:off x="0" y="871156"/>
            <a:ext cx="3024555" cy="85449"/>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350"/>
          </a:p>
        </p:txBody>
      </p:sp>
      <p:sp>
        <p:nvSpPr>
          <p:cNvPr id="12" name="Rectangle 11"/>
          <p:cNvSpPr/>
          <p:nvPr userDrawn="1"/>
        </p:nvSpPr>
        <p:spPr>
          <a:xfrm>
            <a:off x="3071445" y="871155"/>
            <a:ext cx="3024555" cy="85449"/>
          </a:xfrm>
          <a:prstGeom prst="rect">
            <a:avLst/>
          </a:prstGeom>
          <a:solidFill>
            <a:srgbClr val="DB0BC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350"/>
          </a:p>
        </p:txBody>
      </p:sp>
      <p:sp>
        <p:nvSpPr>
          <p:cNvPr id="13" name="Rectangle 12"/>
          <p:cNvSpPr/>
          <p:nvPr userDrawn="1"/>
        </p:nvSpPr>
        <p:spPr>
          <a:xfrm>
            <a:off x="6142892" y="867519"/>
            <a:ext cx="3024555" cy="85449"/>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350"/>
          </a:p>
        </p:txBody>
      </p:sp>
      <p:sp>
        <p:nvSpPr>
          <p:cNvPr id="14" name="Rectangle 13"/>
          <p:cNvSpPr/>
          <p:nvPr userDrawn="1"/>
        </p:nvSpPr>
        <p:spPr>
          <a:xfrm>
            <a:off x="9261229" y="867519"/>
            <a:ext cx="2930771" cy="85449"/>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350"/>
          </a:p>
        </p:txBody>
      </p:sp>
      <p:pic>
        <p:nvPicPr>
          <p:cNvPr id="18" name="Picture 17" descr="A picture containing clipart&#10;&#10;Description automatically generated"/>
          <p:cNvPicPr>
            <a:picLocks noChangeAspect="1"/>
          </p:cNvPicPr>
          <p:nvPr userDrawn="1"/>
        </p:nvPicPr>
        <p:blipFill>
          <a:blip r:embed="rId4" cstate="print">
            <a:alphaModFix amt="7000"/>
            <a:extLst>
              <a:ext uri="{28A0092B-C50C-407E-A947-70E740481C1C}">
                <a14:useLocalDpi xmlns:a14="http://schemas.microsoft.com/office/drawing/2010/main" val="0"/>
              </a:ext>
            </a:extLst>
          </a:blip>
          <a:stretch>
            <a:fillRect/>
          </a:stretch>
        </p:blipFill>
        <p:spPr>
          <a:xfrm>
            <a:off x="0" y="952968"/>
            <a:ext cx="12192000" cy="5407020"/>
          </a:xfrm>
          <a:prstGeom prst="rect">
            <a:avLst/>
          </a:prstGeom>
        </p:spPr>
      </p:pic>
      <p:sp>
        <p:nvSpPr>
          <p:cNvPr id="19" name="Rectangle 18"/>
          <p:cNvSpPr/>
          <p:nvPr userDrawn="1"/>
        </p:nvSpPr>
        <p:spPr>
          <a:xfrm>
            <a:off x="0" y="6226361"/>
            <a:ext cx="3024555" cy="85449"/>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350"/>
          </a:p>
        </p:txBody>
      </p:sp>
      <p:sp>
        <p:nvSpPr>
          <p:cNvPr id="20" name="Rectangle 19"/>
          <p:cNvSpPr/>
          <p:nvPr userDrawn="1"/>
        </p:nvSpPr>
        <p:spPr>
          <a:xfrm>
            <a:off x="3071445" y="6226360"/>
            <a:ext cx="3024555" cy="85449"/>
          </a:xfrm>
          <a:prstGeom prst="rect">
            <a:avLst/>
          </a:prstGeom>
          <a:solidFill>
            <a:srgbClr val="DB0BC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350"/>
          </a:p>
        </p:txBody>
      </p:sp>
      <p:sp>
        <p:nvSpPr>
          <p:cNvPr id="21" name="Rectangle 20"/>
          <p:cNvSpPr/>
          <p:nvPr userDrawn="1"/>
        </p:nvSpPr>
        <p:spPr>
          <a:xfrm>
            <a:off x="6142892" y="6222724"/>
            <a:ext cx="3024555" cy="85449"/>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350"/>
          </a:p>
        </p:txBody>
      </p:sp>
      <p:sp>
        <p:nvSpPr>
          <p:cNvPr id="22" name="Rectangle 21"/>
          <p:cNvSpPr/>
          <p:nvPr userDrawn="1"/>
        </p:nvSpPr>
        <p:spPr>
          <a:xfrm>
            <a:off x="9261229" y="6222724"/>
            <a:ext cx="2930771" cy="85449"/>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350"/>
          </a:p>
        </p:txBody>
      </p:sp>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pic>
        <p:nvPicPr>
          <p:cNvPr id="8" name="Picture 7"/>
          <p:cNvPicPr>
            <a:picLocks noChangeAspect="1"/>
          </p:cNvPicPr>
          <p:nvPr userDrawn="1"/>
        </p:nvPicPr>
        <p:blipFill rotWithShape="1">
          <a:blip r:embed="rId5" cstate="print">
            <a:extLst>
              <a:ext uri="{28A0092B-C50C-407E-A947-70E740481C1C}">
                <a14:useLocalDpi xmlns:a14="http://schemas.microsoft.com/office/drawing/2010/main" val="0"/>
              </a:ext>
            </a:extLst>
          </a:blip>
          <a:srcRect r="48875"/>
          <a:stretch>
            <a:fillRect/>
          </a:stretch>
        </p:blipFill>
        <p:spPr>
          <a:xfrm>
            <a:off x="0" y="11874"/>
            <a:ext cx="1580606" cy="865383"/>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Lst>
  <p:hf hdr="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1067674" y="1095632"/>
            <a:ext cx="10680510" cy="647534"/>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altLang="en-US" dirty="0"/>
              <a:t>An Agentic AI-Based Multi-Agent System for Network Intrusion Detection, Triage, and Adaptive Response</a:t>
            </a:r>
          </a:p>
        </p:txBody>
      </p:sp>
      <p:sp>
        <p:nvSpPr>
          <p:cNvPr id="7" name="TextBox 11"/>
          <p:cNvSpPr txBox="1"/>
          <p:nvPr/>
        </p:nvSpPr>
        <p:spPr>
          <a:xfrm>
            <a:off x="2560320" y="1743166"/>
            <a:ext cx="6964680" cy="1938020"/>
          </a:xfrm>
          <a:prstGeom prst="rect">
            <a:avLst/>
          </a:prstGeom>
          <a:noFill/>
        </p:spPr>
        <p:txBody>
          <a:bodyPr wrap="square">
            <a:spAutoFit/>
          </a:bodyPr>
          <a:lstStyle>
            <a:defPPr>
              <a:defRPr lang="en-GB"/>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a:pPr algn="ctr" defTabSz="457200" eaLnBrk="1">
              <a:buClr>
                <a:srgbClr val="000000"/>
              </a:buClr>
              <a:buSzPct val="45000"/>
              <a:buFont typeface="StarSymbol" charset="0"/>
              <a:buNone/>
              <a:defRPr/>
            </a:pPr>
            <a:r>
              <a:rPr lang="en-US" altLang="en-US" sz="2000" kern="0" dirty="0">
                <a:solidFill>
                  <a:srgbClr val="000000"/>
                </a:solidFill>
                <a:latin typeface="Times New Roman" panose="02020603050405020304"/>
              </a:rPr>
              <a:t>Presented by    </a:t>
            </a:r>
          </a:p>
          <a:p>
            <a:pPr algn="ctr" defTabSz="457200" eaLnBrk="1">
              <a:buClr>
                <a:srgbClr val="000000"/>
              </a:buClr>
              <a:buSzPct val="45000"/>
              <a:buFont typeface="StarSymbol" charset="0"/>
              <a:buNone/>
              <a:defRPr/>
            </a:pPr>
            <a:r>
              <a:rPr lang="en-US" altLang="en-US" sz="2000" b="1" kern="0" dirty="0">
                <a:solidFill>
                  <a:srgbClr val="000000"/>
                </a:solidFill>
                <a:latin typeface="Times New Roman" panose="02020603050405020304"/>
              </a:rPr>
              <a:t>1. P.Sri Sai Phani 	     245523753040</a:t>
            </a:r>
          </a:p>
          <a:p>
            <a:pPr algn="ctr" defTabSz="457200" eaLnBrk="1">
              <a:buClr>
                <a:srgbClr val="000000"/>
              </a:buClr>
              <a:buSzPct val="45000"/>
              <a:defRPr/>
            </a:pPr>
            <a:r>
              <a:rPr lang="en-US" altLang="en-US" sz="2000" b="1" kern="0" dirty="0">
                <a:solidFill>
                  <a:srgbClr val="000000"/>
                </a:solidFill>
                <a:latin typeface="Times New Roman" panose="02020603050405020304"/>
              </a:rPr>
              <a:t>2. R. Hima Varshini	     245523753044</a:t>
            </a:r>
          </a:p>
          <a:p>
            <a:pPr algn="ctr" defTabSz="457200" eaLnBrk="1">
              <a:buClr>
                <a:srgbClr val="000000"/>
              </a:buClr>
              <a:buSzPct val="45000"/>
              <a:defRPr/>
            </a:pPr>
            <a:r>
              <a:rPr lang="en-US" altLang="en-US" sz="2000" b="1" kern="0" dirty="0">
                <a:solidFill>
                  <a:srgbClr val="000000"/>
                </a:solidFill>
                <a:latin typeface="Times New Roman" panose="02020603050405020304"/>
              </a:rPr>
              <a:t>3. V.S.S Madhuri	     245523753051</a:t>
            </a:r>
          </a:p>
          <a:p>
            <a:pPr algn="ctr" defTabSz="457200" eaLnBrk="1">
              <a:buClr>
                <a:srgbClr val="000000"/>
              </a:buClr>
              <a:buSzPct val="45000"/>
              <a:buFont typeface="StarSymbol" charset="0"/>
              <a:buNone/>
              <a:defRPr/>
            </a:pPr>
            <a:endParaRPr lang="en-US" altLang="en-US" sz="2000" b="1" kern="0" dirty="0">
              <a:solidFill>
                <a:srgbClr val="000000"/>
              </a:solidFill>
              <a:latin typeface="Times New Roman" panose="02020603050405020304"/>
            </a:endParaRPr>
          </a:p>
          <a:p>
            <a:pPr algn="ctr" defTabSz="457200" eaLnBrk="1">
              <a:buClr>
                <a:srgbClr val="000000"/>
              </a:buClr>
              <a:buSzPct val="45000"/>
              <a:buFont typeface="StarSymbol" charset="0"/>
              <a:buNone/>
              <a:defRPr/>
            </a:pPr>
            <a:endParaRPr lang="en-US" altLang="en-US" sz="2000" kern="0" dirty="0">
              <a:solidFill>
                <a:srgbClr val="000000"/>
              </a:solidFill>
              <a:latin typeface="Times New Roman" panose="02020603050405020304"/>
            </a:endParaRPr>
          </a:p>
        </p:txBody>
      </p:sp>
      <p:sp>
        <p:nvSpPr>
          <p:cNvPr id="8" name="Rectangle 7"/>
          <p:cNvSpPr>
            <a:spLocks noGrp="1" noChangeArrowheads="1"/>
          </p:cNvSpPr>
          <p:nvPr/>
        </p:nvSpPr>
        <p:spPr bwMode="auto">
          <a:xfrm>
            <a:off x="2978586" y="3349771"/>
            <a:ext cx="6858000" cy="1119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noAutofit/>
          </a:bodyPr>
          <a:lstStyle>
            <a:lvl1pPr marL="0" indent="0" algn="ctr" defTabSz="457200" rtl="0" eaLnBrk="0" fontAlgn="base" hangingPunct="0">
              <a:lnSpc>
                <a:spcPct val="93000"/>
              </a:lnSpc>
              <a:spcBef>
                <a:spcPct val="0"/>
              </a:spcBef>
              <a:spcAft>
                <a:spcPts val="1425"/>
              </a:spcAft>
              <a:buClr>
                <a:srgbClr val="000000"/>
              </a:buClr>
              <a:buSzPct val="45000"/>
              <a:buFont typeface="StarSymbol" charset="0"/>
              <a:buNone/>
              <a:defRPr sz="3200">
                <a:solidFill>
                  <a:srgbClr val="000000"/>
                </a:solidFill>
                <a:latin typeface="+mn-lt"/>
                <a:ea typeface="+mn-ea"/>
                <a:cs typeface="+mn-cs"/>
              </a:defRPr>
            </a:lvl1pPr>
            <a:lvl2pPr marL="457200" indent="0" algn="ctr" defTabSz="457200" rtl="0" eaLnBrk="0" fontAlgn="base" hangingPunct="0">
              <a:lnSpc>
                <a:spcPct val="93000"/>
              </a:lnSpc>
              <a:spcBef>
                <a:spcPct val="0"/>
              </a:spcBef>
              <a:spcAft>
                <a:spcPts val="1140"/>
              </a:spcAft>
              <a:buClr>
                <a:srgbClr val="000000"/>
              </a:buClr>
              <a:buSzPct val="75000"/>
              <a:buFont typeface="StarSymbol" charset="0"/>
              <a:buNone/>
              <a:defRPr sz="2800">
                <a:solidFill>
                  <a:srgbClr val="000000"/>
                </a:solidFill>
                <a:latin typeface="+mn-lt"/>
              </a:defRPr>
            </a:lvl2pPr>
            <a:lvl3pPr marL="914400" indent="0" algn="ctr" defTabSz="457200" rtl="0" eaLnBrk="0" fontAlgn="base" hangingPunct="0">
              <a:lnSpc>
                <a:spcPct val="93000"/>
              </a:lnSpc>
              <a:spcBef>
                <a:spcPct val="0"/>
              </a:spcBef>
              <a:spcAft>
                <a:spcPts val="850"/>
              </a:spcAft>
              <a:buClr>
                <a:srgbClr val="000000"/>
              </a:buClr>
              <a:buSzPct val="45000"/>
              <a:buFont typeface="StarSymbol" charset="0"/>
              <a:buNone/>
              <a:defRPr sz="2400">
                <a:solidFill>
                  <a:srgbClr val="000000"/>
                </a:solidFill>
                <a:latin typeface="+mn-lt"/>
              </a:defRPr>
            </a:lvl3pPr>
            <a:lvl4pPr marL="1371600" indent="0" algn="ctr" defTabSz="457200" rtl="0" eaLnBrk="0" fontAlgn="base" hangingPunct="0">
              <a:lnSpc>
                <a:spcPct val="93000"/>
              </a:lnSpc>
              <a:spcBef>
                <a:spcPct val="0"/>
              </a:spcBef>
              <a:spcAft>
                <a:spcPts val="575"/>
              </a:spcAft>
              <a:buClr>
                <a:srgbClr val="000000"/>
              </a:buClr>
              <a:buSzPct val="75000"/>
              <a:buFont typeface="StarSymbol" charset="0"/>
              <a:buNone/>
              <a:defRPr sz="2000">
                <a:solidFill>
                  <a:srgbClr val="000000"/>
                </a:solidFill>
                <a:latin typeface="+mn-lt"/>
              </a:defRPr>
            </a:lvl4pPr>
            <a:lvl5pPr marL="1828800" indent="0" algn="ctr" defTabSz="457200" rtl="0" eaLnBrk="0" fontAlgn="base" hangingPunct="0">
              <a:lnSpc>
                <a:spcPct val="93000"/>
              </a:lnSpc>
              <a:spcBef>
                <a:spcPct val="0"/>
              </a:spcBef>
              <a:spcAft>
                <a:spcPts val="290"/>
              </a:spcAft>
              <a:buClr>
                <a:srgbClr val="000000"/>
              </a:buClr>
              <a:buSzPct val="45000"/>
              <a:buFont typeface="StarSymbol" charset="0"/>
              <a:buNone/>
              <a:defRPr sz="2000">
                <a:solidFill>
                  <a:srgbClr val="000000"/>
                </a:solidFill>
                <a:latin typeface="+mn-lt"/>
              </a:defRPr>
            </a:lvl5pPr>
            <a:lvl6pPr marL="2286000" indent="0" algn="ctr" defTabSz="457200" rtl="0" fontAlgn="base" hangingPunct="0">
              <a:lnSpc>
                <a:spcPct val="93000"/>
              </a:lnSpc>
              <a:spcBef>
                <a:spcPct val="0"/>
              </a:spcBef>
              <a:spcAft>
                <a:spcPts val="290"/>
              </a:spcAft>
              <a:buClr>
                <a:srgbClr val="000000"/>
              </a:buClr>
              <a:buSzPct val="45000"/>
              <a:buFont typeface="StarSymbol" charset="0"/>
              <a:buNone/>
              <a:defRPr sz="2000">
                <a:solidFill>
                  <a:srgbClr val="000000"/>
                </a:solidFill>
                <a:latin typeface="+mn-lt"/>
              </a:defRPr>
            </a:lvl6pPr>
            <a:lvl7pPr marL="2743200" indent="0" algn="ctr" defTabSz="457200" rtl="0" fontAlgn="base" hangingPunct="0">
              <a:lnSpc>
                <a:spcPct val="93000"/>
              </a:lnSpc>
              <a:spcBef>
                <a:spcPct val="0"/>
              </a:spcBef>
              <a:spcAft>
                <a:spcPts val="290"/>
              </a:spcAft>
              <a:buClr>
                <a:srgbClr val="000000"/>
              </a:buClr>
              <a:buSzPct val="45000"/>
              <a:buFont typeface="StarSymbol" charset="0"/>
              <a:buNone/>
              <a:defRPr sz="2000">
                <a:solidFill>
                  <a:srgbClr val="000000"/>
                </a:solidFill>
                <a:latin typeface="+mn-lt"/>
              </a:defRPr>
            </a:lvl7pPr>
            <a:lvl8pPr marL="3200400" indent="0" algn="ctr" defTabSz="457200" rtl="0" fontAlgn="base" hangingPunct="0">
              <a:lnSpc>
                <a:spcPct val="93000"/>
              </a:lnSpc>
              <a:spcBef>
                <a:spcPct val="0"/>
              </a:spcBef>
              <a:spcAft>
                <a:spcPts val="290"/>
              </a:spcAft>
              <a:buClr>
                <a:srgbClr val="000000"/>
              </a:buClr>
              <a:buSzPct val="45000"/>
              <a:buFont typeface="StarSymbol" charset="0"/>
              <a:buNone/>
              <a:defRPr sz="2000">
                <a:solidFill>
                  <a:srgbClr val="000000"/>
                </a:solidFill>
                <a:latin typeface="+mn-lt"/>
              </a:defRPr>
            </a:lvl8pPr>
            <a:lvl9pPr marL="3657600" indent="0" algn="ctr" defTabSz="457200" rtl="0" fontAlgn="base" hangingPunct="0">
              <a:lnSpc>
                <a:spcPct val="93000"/>
              </a:lnSpc>
              <a:spcBef>
                <a:spcPct val="0"/>
              </a:spcBef>
              <a:spcAft>
                <a:spcPts val="290"/>
              </a:spcAft>
              <a:buClr>
                <a:srgbClr val="000000"/>
              </a:buClr>
              <a:buSzPct val="45000"/>
              <a:buFont typeface="StarSymbol" charset="0"/>
              <a:buNone/>
              <a:defRPr sz="2000">
                <a:solidFill>
                  <a:srgbClr val="000000"/>
                </a:solidFill>
                <a:latin typeface="+mn-lt"/>
              </a:defRPr>
            </a:lvl9pPr>
          </a:lstStyle>
          <a:p>
            <a:pPr eaLnBrk="1">
              <a:lnSpc>
                <a:spcPct val="100000"/>
              </a:lnSpc>
              <a:spcAft>
                <a:spcPct val="0"/>
              </a:spcAft>
              <a:buSzPct val="100000"/>
              <a:defRPr/>
            </a:pPr>
            <a:r>
              <a:rPr lang="en-US" altLang="en-US" sz="2800" b="1" dirty="0">
                <a:solidFill>
                  <a:srgbClr val="2DA2BF"/>
                </a:solidFill>
                <a:effectLst>
                  <a:outerShdw blurRad="31750" dist="25400" dir="5400000" algn="tl" rotWithShape="0">
                    <a:srgbClr val="000000">
                      <a:alpha val="25000"/>
                    </a:srgbClr>
                  </a:outerShdw>
                </a:effectLst>
                <a:latin typeface="+mj-lt"/>
                <a:ea typeface="+mj-ea"/>
                <a:cs typeface="Calibri" panose="020F0502020204030204" pitchFamily="34" charset="0"/>
              </a:rPr>
              <a:t>Major Project Review1- 24 - Sep </a:t>
            </a:r>
            <a:r>
              <a:rPr lang="en-US" altLang="en-US" sz="2800" b="1" kern="1200" dirty="0">
                <a:solidFill>
                  <a:srgbClr val="2DA2BF"/>
                </a:solidFill>
                <a:effectLst>
                  <a:outerShdw blurRad="31750" dist="25400" dir="5400000" algn="tl" rotWithShape="0">
                    <a:srgbClr val="000000">
                      <a:alpha val="25000"/>
                    </a:srgbClr>
                  </a:outerShdw>
                </a:effectLst>
                <a:latin typeface="+mj-lt"/>
                <a:ea typeface="+mj-ea"/>
                <a:cs typeface="Calibri" panose="020F0502020204030204" pitchFamily="34" charset="0"/>
              </a:rPr>
              <a:t>-</a:t>
            </a:r>
            <a:r>
              <a:rPr lang="en-US" altLang="en-US" sz="2800" b="1" dirty="0">
                <a:solidFill>
                  <a:srgbClr val="2DA2BF"/>
                </a:solidFill>
                <a:effectLst>
                  <a:outerShdw blurRad="31750" dist="25400" dir="5400000" algn="tl" rotWithShape="0">
                    <a:srgbClr val="000000">
                      <a:alpha val="25000"/>
                    </a:srgbClr>
                  </a:outerShdw>
                </a:effectLst>
                <a:latin typeface="+mj-lt"/>
                <a:ea typeface="+mj-ea"/>
                <a:cs typeface="Calibri" panose="020F0502020204030204" pitchFamily="34" charset="0"/>
              </a:rPr>
              <a:t>2026</a:t>
            </a:r>
            <a:endParaRPr lang="en-US" altLang="en-US" sz="2800" b="1" dirty="0"/>
          </a:p>
        </p:txBody>
      </p:sp>
      <p:sp>
        <p:nvSpPr>
          <p:cNvPr id="9" name="Rectangle 8"/>
          <p:cNvSpPr>
            <a:spLocks noChangeArrowheads="1"/>
          </p:cNvSpPr>
          <p:nvPr/>
        </p:nvSpPr>
        <p:spPr bwMode="auto">
          <a:xfrm>
            <a:off x="2474020" y="4578484"/>
            <a:ext cx="8631301" cy="13220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GB"/>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a:pPr algn="ctr"/>
            <a:r>
              <a:rPr lang="en-IN" altLang="en-US" sz="2000" dirty="0"/>
              <a:t> Under the Supervision of</a:t>
            </a:r>
          </a:p>
          <a:p>
            <a:pPr algn="ctr"/>
            <a:r>
              <a:rPr lang="en-US" altLang="en-IN" sz="2000" b="1" dirty="0">
                <a:solidFill>
                  <a:srgbClr val="FF0000"/>
                </a:solidFill>
              </a:rPr>
              <a:t>Mrs. Gayithri Tippani</a:t>
            </a:r>
            <a:endParaRPr lang="en-IN" altLang="en-US" sz="2000" b="1" dirty="0">
              <a:solidFill>
                <a:srgbClr val="FF0000"/>
              </a:solidFill>
            </a:endParaRPr>
          </a:p>
          <a:p>
            <a:pPr algn="ctr"/>
            <a:r>
              <a:rPr lang="en-IN" altLang="en-US" sz="2000" dirty="0"/>
              <a:t>Assistant  Professor, CSE(AI&amp;ML)</a:t>
            </a:r>
          </a:p>
          <a:p>
            <a:pPr algn="ctr"/>
            <a:r>
              <a:rPr lang="en-IN" altLang="en-US" sz="2000" dirty="0"/>
              <a:t>Keshav Memorial Engineering </a:t>
            </a:r>
            <a:r>
              <a:rPr lang="en-IN" altLang="en-US" sz="2000" dirty="0" err="1"/>
              <a:t>College,Hyderabad</a:t>
            </a:r>
            <a:r>
              <a:rPr lang="en-IN" altLang="en-US" sz="2000" dirty="0"/>
              <a:t>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4294967295"/>
          </p:nvPr>
        </p:nvSpPr>
        <p:spPr>
          <a:xfrm>
            <a:off x="838200" y="6356352"/>
            <a:ext cx="2743200" cy="365125"/>
          </a:xfrm>
        </p:spPr>
        <p:txBody>
          <a:bodyPr/>
          <a:lstStyle/>
          <a:p>
            <a:fld id="{1D0B0700-CA0B-4F86-928B-DEDB1C2A135A}" type="datetime1">
              <a:rPr lang="en-IN" smtClean="0"/>
              <a:t>23-09-2026</a:t>
            </a:fld>
            <a:endParaRPr lang="en-IN" dirty="0"/>
          </a:p>
        </p:txBody>
      </p:sp>
      <p:sp>
        <p:nvSpPr>
          <p:cNvPr id="4" name="Footer Placeholder 3"/>
          <p:cNvSpPr>
            <a:spLocks noGrp="1"/>
          </p:cNvSpPr>
          <p:nvPr>
            <p:ph type="ftr" sz="quarter" idx="11"/>
          </p:nvPr>
        </p:nvSpPr>
        <p:spPr/>
        <p:txBody>
          <a:bodyPr/>
          <a:lstStyle/>
          <a:p>
            <a:r>
              <a:rPr lang="en-US"/>
              <a:t>Department of </a:t>
            </a:r>
            <a:r>
              <a:rPr lang="en-US" sz="1000"/>
              <a:t>CSE-AIML</a:t>
            </a:r>
            <a:endParaRPr lang="en-US"/>
          </a:p>
          <a:p>
            <a:endParaRPr lang="en-IN" dirty="0"/>
          </a:p>
        </p:txBody>
      </p:sp>
      <p:sp>
        <p:nvSpPr>
          <p:cNvPr id="5" name="Slide Number Placeholder 4"/>
          <p:cNvSpPr>
            <a:spLocks noGrp="1"/>
          </p:cNvSpPr>
          <p:nvPr>
            <p:ph type="sldNum" sz="quarter" idx="4294967295"/>
          </p:nvPr>
        </p:nvSpPr>
        <p:spPr>
          <a:xfrm>
            <a:off x="8610600" y="6356352"/>
            <a:ext cx="3024554" cy="365125"/>
          </a:xfrm>
        </p:spPr>
        <p:txBody>
          <a:bodyPr/>
          <a:lstStyle/>
          <a:p>
            <a:r>
              <a:rPr lang="en-IN"/>
              <a:t>1</a:t>
            </a:r>
            <a:endParaRPr lang="en-IN" dirty="0"/>
          </a:p>
        </p:txBody>
      </p:sp>
      <p:sp>
        <p:nvSpPr>
          <p:cNvPr id="6" name="TextBox 5"/>
          <p:cNvSpPr txBox="1"/>
          <p:nvPr/>
        </p:nvSpPr>
        <p:spPr>
          <a:xfrm>
            <a:off x="5155096" y="198783"/>
            <a:ext cx="1896866" cy="646331"/>
          </a:xfrm>
          <a:prstGeom prst="rect">
            <a:avLst/>
          </a:prstGeom>
          <a:noFill/>
        </p:spPr>
        <p:txBody>
          <a:bodyPr wrap="none" rtlCol="0">
            <a:spAutoFit/>
          </a:bodyPr>
          <a:lstStyle/>
          <a:p>
            <a:r>
              <a:rPr lang="en-US" sz="3600" b="1" dirty="0">
                <a:solidFill>
                  <a:srgbClr val="FF0000"/>
                </a:solidFill>
              </a:rPr>
              <a:t>Contents</a:t>
            </a:r>
          </a:p>
        </p:txBody>
      </p:sp>
      <p:sp>
        <p:nvSpPr>
          <p:cNvPr id="2" name="Text Box 1"/>
          <p:cNvSpPr txBox="1"/>
          <p:nvPr/>
        </p:nvSpPr>
        <p:spPr>
          <a:xfrm>
            <a:off x="1064260" y="1409700"/>
            <a:ext cx="4064000" cy="368300"/>
          </a:xfrm>
          <a:prstGeom prst="rect">
            <a:avLst/>
          </a:prstGeom>
          <a:noFill/>
        </p:spPr>
        <p:txBody>
          <a:bodyPr wrap="square" rtlCol="0">
            <a:spAutoFit/>
          </a:bodyPr>
          <a:lstStyle/>
          <a:p>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4294967295"/>
          </p:nvPr>
        </p:nvSpPr>
        <p:spPr>
          <a:xfrm>
            <a:off x="838200" y="6356352"/>
            <a:ext cx="2743200" cy="365125"/>
          </a:xfrm>
        </p:spPr>
        <p:txBody>
          <a:bodyPr/>
          <a:lstStyle/>
          <a:p>
            <a:fld id="{3CAB5ACE-9F12-4980-818D-A3921FB1AC25}" type="datetime1">
              <a:rPr lang="en-IN" smtClean="0"/>
              <a:t>23-09-2026</a:t>
            </a:fld>
            <a:endParaRPr lang="en-IN" dirty="0"/>
          </a:p>
        </p:txBody>
      </p:sp>
      <p:sp>
        <p:nvSpPr>
          <p:cNvPr id="4" name="Footer Placeholder 3"/>
          <p:cNvSpPr>
            <a:spLocks noGrp="1"/>
          </p:cNvSpPr>
          <p:nvPr>
            <p:ph type="ftr" sz="quarter" idx="11"/>
          </p:nvPr>
        </p:nvSpPr>
        <p:spPr/>
        <p:txBody>
          <a:bodyPr/>
          <a:lstStyle/>
          <a:p>
            <a:r>
              <a:rPr lang="en-US"/>
              <a:t>Department of </a:t>
            </a:r>
            <a:r>
              <a:rPr lang="en-US" sz="1000"/>
              <a:t>CSE-AIML</a:t>
            </a:r>
            <a:endParaRPr lang="en-US"/>
          </a:p>
          <a:p>
            <a:endParaRPr lang="en-IN" dirty="0"/>
          </a:p>
        </p:txBody>
      </p:sp>
      <p:sp>
        <p:nvSpPr>
          <p:cNvPr id="5" name="Slide Number Placeholder 4"/>
          <p:cNvSpPr>
            <a:spLocks noGrp="1"/>
          </p:cNvSpPr>
          <p:nvPr>
            <p:ph type="sldNum" sz="quarter" idx="4294967295"/>
          </p:nvPr>
        </p:nvSpPr>
        <p:spPr>
          <a:xfrm>
            <a:off x="8610600" y="6356352"/>
            <a:ext cx="3024554" cy="365125"/>
          </a:xfrm>
        </p:spPr>
        <p:txBody>
          <a:bodyPr/>
          <a:lstStyle/>
          <a:p>
            <a:r>
              <a:rPr lang="en-IN"/>
              <a:t>1</a:t>
            </a:r>
            <a:endParaRPr lang="en-IN" dirty="0"/>
          </a:p>
        </p:txBody>
      </p:sp>
      <p:sp>
        <p:nvSpPr>
          <p:cNvPr id="7" name="TextBox 6"/>
          <p:cNvSpPr txBox="1"/>
          <p:nvPr/>
        </p:nvSpPr>
        <p:spPr>
          <a:xfrm>
            <a:off x="4509637" y="117565"/>
            <a:ext cx="2580835" cy="646331"/>
          </a:xfrm>
          <a:prstGeom prst="rect">
            <a:avLst/>
          </a:prstGeom>
          <a:noFill/>
        </p:spPr>
        <p:txBody>
          <a:bodyPr wrap="none" rtlCol="0">
            <a:spAutoFit/>
          </a:bodyPr>
          <a:lstStyle/>
          <a:p>
            <a:r>
              <a:rPr lang="en-US" sz="3600" b="1" dirty="0">
                <a:solidFill>
                  <a:srgbClr val="FF0000"/>
                </a:solidFill>
              </a:rPr>
              <a:t>Introduction</a:t>
            </a:r>
          </a:p>
        </p:txBody>
      </p:sp>
      <p:sp>
        <p:nvSpPr>
          <p:cNvPr id="6" name="Text Box 5"/>
          <p:cNvSpPr txBox="1"/>
          <p:nvPr/>
        </p:nvSpPr>
        <p:spPr>
          <a:xfrm>
            <a:off x="697523" y="1287624"/>
            <a:ext cx="10796954" cy="4777274"/>
          </a:xfrm>
          <a:prstGeom prst="rect">
            <a:avLst/>
          </a:prstGeom>
        </p:spPr>
        <p:txBody>
          <a:bodyPr wrap="square">
            <a:noAutofit/>
          </a:bodyPr>
          <a:lstStyle/>
          <a:p>
            <a:pPr algn="just">
              <a:lnSpc>
                <a:spcPct val="150000"/>
              </a:lnSpc>
              <a:spcAft>
                <a:spcPct val="60000"/>
              </a:spcAft>
            </a:pPr>
            <a:r>
              <a:rPr sz="2000" dirty="0"/>
              <a:t>The rapid growth of interconnected systems has increased the frequency and complexity of cyberattacks. Traditional Intrusion Detection Systems mainly detect threats using predefined rules or static models, but they often generate excessive alerts without providing adequate investigation or response support. This project proposes an Agentic AI-Based Multi-Agent System for Network Intrusion Detection, Triage, and Adaptive Response. It combines </a:t>
            </a:r>
            <a:r>
              <a:rPr lang="en-US" sz="2000" dirty="0"/>
              <a:t>M</a:t>
            </a:r>
            <a:r>
              <a:rPr sz="2000" dirty="0"/>
              <a:t>achine </a:t>
            </a:r>
            <a:r>
              <a:rPr lang="en-US" sz="2000" dirty="0"/>
              <a:t>L</a:t>
            </a:r>
            <a:r>
              <a:rPr sz="2000" dirty="0"/>
              <a:t>earning, Large Language Models, Retrieval-Augmented Generation, and specialized AI agents to detect suspicious network activity, investigate incidents, prioritize threats, recommend suitable responses, and verify their effectiveness. Human approval is included before sensitive actions, making the system safer, explainable, and suitable for practical cybersecurity applications.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4294967295"/>
          </p:nvPr>
        </p:nvSpPr>
        <p:spPr>
          <a:xfrm>
            <a:off x="838200" y="6356352"/>
            <a:ext cx="2743200" cy="365125"/>
          </a:xfrm>
        </p:spPr>
        <p:txBody>
          <a:bodyPr/>
          <a:lstStyle/>
          <a:p>
            <a:fld id="{8070C3D7-9016-4CFF-AEFB-5D5B32CC8554}" type="datetime1">
              <a:rPr lang="en-IN" smtClean="0"/>
              <a:t>23-09-2026</a:t>
            </a:fld>
            <a:endParaRPr lang="en-IN" dirty="0"/>
          </a:p>
        </p:txBody>
      </p:sp>
      <p:sp>
        <p:nvSpPr>
          <p:cNvPr id="4" name="Footer Placeholder 3"/>
          <p:cNvSpPr>
            <a:spLocks noGrp="1"/>
          </p:cNvSpPr>
          <p:nvPr>
            <p:ph type="ftr" sz="quarter" idx="11"/>
          </p:nvPr>
        </p:nvSpPr>
        <p:spPr/>
        <p:txBody>
          <a:bodyPr/>
          <a:lstStyle/>
          <a:p>
            <a:r>
              <a:rPr lang="en-US"/>
              <a:t>Department of </a:t>
            </a:r>
            <a:r>
              <a:rPr lang="en-US" sz="1000"/>
              <a:t>CSE-AIML</a:t>
            </a:r>
            <a:endParaRPr lang="en-US"/>
          </a:p>
          <a:p>
            <a:endParaRPr lang="en-IN" dirty="0"/>
          </a:p>
        </p:txBody>
      </p:sp>
      <p:sp>
        <p:nvSpPr>
          <p:cNvPr id="5" name="Slide Number Placeholder 4"/>
          <p:cNvSpPr>
            <a:spLocks noGrp="1"/>
          </p:cNvSpPr>
          <p:nvPr>
            <p:ph type="sldNum" sz="quarter" idx="4294967295"/>
          </p:nvPr>
        </p:nvSpPr>
        <p:spPr>
          <a:xfrm>
            <a:off x="8610600" y="6356352"/>
            <a:ext cx="3024554" cy="365125"/>
          </a:xfrm>
        </p:spPr>
        <p:txBody>
          <a:bodyPr/>
          <a:lstStyle/>
          <a:p>
            <a:r>
              <a:rPr lang="en-IN" dirty="0"/>
              <a:t>1</a:t>
            </a:r>
          </a:p>
        </p:txBody>
      </p:sp>
      <p:sp>
        <p:nvSpPr>
          <p:cNvPr id="7" name="TextBox 6"/>
          <p:cNvSpPr txBox="1"/>
          <p:nvPr/>
        </p:nvSpPr>
        <p:spPr>
          <a:xfrm>
            <a:off x="5056388" y="179291"/>
            <a:ext cx="2079224" cy="584775"/>
          </a:xfrm>
          <a:prstGeom prst="rect">
            <a:avLst/>
          </a:prstGeom>
          <a:noFill/>
        </p:spPr>
        <p:txBody>
          <a:bodyPr wrap="none" rtlCol="0">
            <a:spAutoFit/>
          </a:bodyPr>
          <a:lstStyle/>
          <a:p>
            <a:r>
              <a:rPr lang="en-US" sz="3200" b="1" dirty="0">
                <a:solidFill>
                  <a:srgbClr val="FF0000"/>
                </a:solidFill>
              </a:rPr>
              <a:t>Motivation</a:t>
            </a:r>
          </a:p>
        </p:txBody>
      </p:sp>
      <p:sp>
        <p:nvSpPr>
          <p:cNvPr id="2" name="TextBox 1">
            <a:extLst>
              <a:ext uri="{FF2B5EF4-FFF2-40B4-BE49-F238E27FC236}">
                <a16:creationId xmlns:a16="http://schemas.microsoft.com/office/drawing/2014/main" id="{B5262501-1CE2-6CEB-C553-539B10822F46}"/>
              </a:ext>
            </a:extLst>
          </p:cNvPr>
          <p:cNvSpPr txBox="1"/>
          <p:nvPr/>
        </p:nvSpPr>
        <p:spPr>
          <a:xfrm>
            <a:off x="2878600" y="1579432"/>
            <a:ext cx="6669930" cy="3083921"/>
          </a:xfrm>
          <a:prstGeom prst="rect">
            <a:avLst/>
          </a:prstGeom>
          <a:noFill/>
        </p:spPr>
        <p:txBody>
          <a:bodyPr wrap="square" rtlCol="0">
            <a:spAutoFit/>
          </a:bodyPr>
          <a:lstStyle/>
          <a:p>
            <a:pPr marL="342900" lvl="0" indent="-342900">
              <a:lnSpc>
                <a:spcPct val="200000"/>
              </a:lnSpc>
              <a:buFont typeface="+mj-lt"/>
              <a:buAutoNum type="arabicPeriod"/>
            </a:pPr>
            <a:r>
              <a:rPr lang="en-IN" sz="2000" dirty="0"/>
              <a:t>Rising volume and sophistication of cyberattacks </a:t>
            </a:r>
          </a:p>
          <a:p>
            <a:pPr marL="342900" lvl="0" indent="-342900">
              <a:lnSpc>
                <a:spcPct val="200000"/>
              </a:lnSpc>
              <a:buFont typeface="+mj-lt"/>
              <a:buAutoNum type="arabicPeriod"/>
            </a:pPr>
            <a:r>
              <a:rPr lang="en-IN" sz="2000" dirty="0"/>
              <a:t>Alert fatigue and analyst overload </a:t>
            </a:r>
          </a:p>
          <a:p>
            <a:pPr marL="342900" lvl="0" indent="-342900">
              <a:lnSpc>
                <a:spcPct val="200000"/>
              </a:lnSpc>
              <a:buFont typeface="+mj-lt"/>
              <a:buAutoNum type="arabicPeriod"/>
            </a:pPr>
            <a:r>
              <a:rPr lang="en-IN" sz="2000" dirty="0"/>
              <a:t>Lack of contextual reasoning in conventional NIDS </a:t>
            </a:r>
          </a:p>
          <a:p>
            <a:pPr marL="342900" lvl="0" indent="-342900">
              <a:lnSpc>
                <a:spcPct val="200000"/>
              </a:lnSpc>
              <a:buFont typeface="+mj-lt"/>
              <a:buAutoNum type="arabicPeriod"/>
            </a:pPr>
            <a:r>
              <a:rPr lang="en-IN" sz="2000" dirty="0"/>
              <a:t>Fragmented detection-to-response pipeline</a:t>
            </a:r>
          </a:p>
          <a:p>
            <a:pPr marL="342900" lvl="0" indent="-342900">
              <a:lnSpc>
                <a:spcPct val="200000"/>
              </a:lnSpc>
              <a:buFont typeface="+mj-lt"/>
              <a:buAutoNum type="arabicPeriod"/>
            </a:pPr>
            <a:r>
              <a:rPr lang="en-IN" sz="2000" dirty="0"/>
              <a:t>Potential of agentic AI and LLM-driven reasoning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a:t>Department of </a:t>
            </a:r>
            <a:r>
              <a:rPr lang="en-US" sz="1000"/>
              <a:t>CSE-AIML</a:t>
            </a:r>
            <a:endParaRPr lang="en-US"/>
          </a:p>
          <a:p>
            <a:endParaRPr lang="en-IN" dirty="0"/>
          </a:p>
        </p:txBody>
      </p:sp>
      <p:sp>
        <p:nvSpPr>
          <p:cNvPr id="5" name="Slide Number Placeholder 4"/>
          <p:cNvSpPr>
            <a:spLocks noGrp="1"/>
          </p:cNvSpPr>
          <p:nvPr>
            <p:ph type="sldNum" sz="quarter" idx="4294967295"/>
          </p:nvPr>
        </p:nvSpPr>
        <p:spPr>
          <a:xfrm>
            <a:off x="8610600" y="6356352"/>
            <a:ext cx="3024554" cy="365125"/>
          </a:xfrm>
        </p:spPr>
        <p:txBody>
          <a:bodyPr/>
          <a:lstStyle/>
          <a:p>
            <a:r>
              <a:rPr lang="en-IN"/>
              <a:t>1</a:t>
            </a:r>
            <a:endParaRPr lang="en-IN" dirty="0"/>
          </a:p>
        </p:txBody>
      </p:sp>
      <p:sp>
        <p:nvSpPr>
          <p:cNvPr id="6" name="TextBox 5"/>
          <p:cNvSpPr txBox="1"/>
          <p:nvPr/>
        </p:nvSpPr>
        <p:spPr>
          <a:xfrm>
            <a:off x="4837044" y="185530"/>
            <a:ext cx="3091744" cy="584775"/>
          </a:xfrm>
          <a:prstGeom prst="rect">
            <a:avLst/>
          </a:prstGeom>
          <a:noFill/>
        </p:spPr>
        <p:txBody>
          <a:bodyPr wrap="none" rtlCol="0">
            <a:spAutoFit/>
          </a:bodyPr>
          <a:lstStyle/>
          <a:p>
            <a:r>
              <a:rPr lang="en-US" sz="3200" b="1" dirty="0">
                <a:solidFill>
                  <a:srgbClr val="FF0000"/>
                </a:solidFill>
              </a:rPr>
              <a:t>Literature Survey</a:t>
            </a:r>
          </a:p>
        </p:txBody>
      </p:sp>
      <p:graphicFrame>
        <p:nvGraphicFramePr>
          <p:cNvPr id="8" name="Table 7"/>
          <p:cNvGraphicFramePr>
            <a:graphicFrameLocks noGrp="1"/>
          </p:cNvGraphicFramePr>
          <p:nvPr>
            <p:extLst>
              <p:ext uri="{D42A27DB-BD31-4B8C-83A1-F6EECF244321}">
                <p14:modId xmlns:p14="http://schemas.microsoft.com/office/powerpoint/2010/main" val="1308009662"/>
              </p:ext>
            </p:extLst>
          </p:nvPr>
        </p:nvGraphicFramePr>
        <p:xfrm>
          <a:off x="0" y="998377"/>
          <a:ext cx="12192000" cy="5859622"/>
        </p:xfrm>
        <a:graphic>
          <a:graphicData uri="http://schemas.openxmlformats.org/drawingml/2006/table">
            <a:tbl>
              <a:tblPr firstRow="1" bandRow="1">
                <a:tableStyleId>{00A15C55-8517-42AA-B614-E9B94910E393}</a:tableStyleId>
              </a:tblPr>
              <a:tblGrid>
                <a:gridCol w="2323322">
                  <a:extLst>
                    <a:ext uri="{9D8B030D-6E8A-4147-A177-3AD203B41FA5}">
                      <a16:colId xmlns:a16="http://schemas.microsoft.com/office/drawing/2014/main" val="20000"/>
                    </a:ext>
                  </a:extLst>
                </a:gridCol>
                <a:gridCol w="606490">
                  <a:extLst>
                    <a:ext uri="{9D8B030D-6E8A-4147-A177-3AD203B41FA5}">
                      <a16:colId xmlns:a16="http://schemas.microsoft.com/office/drawing/2014/main" val="20001"/>
                    </a:ext>
                  </a:extLst>
                </a:gridCol>
                <a:gridCol w="2799184">
                  <a:extLst>
                    <a:ext uri="{9D8B030D-6E8A-4147-A177-3AD203B41FA5}">
                      <a16:colId xmlns:a16="http://schemas.microsoft.com/office/drawing/2014/main" val="20002"/>
                    </a:ext>
                  </a:extLst>
                </a:gridCol>
                <a:gridCol w="2239347">
                  <a:extLst>
                    <a:ext uri="{9D8B030D-6E8A-4147-A177-3AD203B41FA5}">
                      <a16:colId xmlns:a16="http://schemas.microsoft.com/office/drawing/2014/main" val="20003"/>
                    </a:ext>
                  </a:extLst>
                </a:gridCol>
                <a:gridCol w="4223657">
                  <a:extLst>
                    <a:ext uri="{9D8B030D-6E8A-4147-A177-3AD203B41FA5}">
                      <a16:colId xmlns:a16="http://schemas.microsoft.com/office/drawing/2014/main" val="20004"/>
                    </a:ext>
                  </a:extLst>
                </a:gridCol>
              </a:tblGrid>
              <a:tr h="438523">
                <a:tc>
                  <a:txBody>
                    <a:bodyPr/>
                    <a:lstStyle/>
                    <a:p>
                      <a:r>
                        <a:rPr lang="en-US" sz="1800" dirty="0" err="1"/>
                        <a:t>S.No</a:t>
                      </a:r>
                      <a:endParaRPr lang="en-US" sz="1800" dirty="0"/>
                    </a:p>
                  </a:txBody>
                  <a:tcPr/>
                </a:tc>
                <a:tc>
                  <a:txBody>
                    <a:bodyPr/>
                    <a:lstStyle/>
                    <a:p>
                      <a:r>
                        <a:rPr lang="en-US" sz="1800" dirty="0"/>
                        <a:t>Year</a:t>
                      </a:r>
                    </a:p>
                  </a:txBody>
                  <a:tcPr/>
                </a:tc>
                <a:tc>
                  <a:txBody>
                    <a:bodyPr/>
                    <a:lstStyle/>
                    <a:p>
                      <a:r>
                        <a:rPr lang="en-US" sz="1800" dirty="0"/>
                        <a:t>Model</a:t>
                      </a:r>
                    </a:p>
                  </a:txBody>
                  <a:tcPr/>
                </a:tc>
                <a:tc>
                  <a:txBody>
                    <a:bodyPr/>
                    <a:lstStyle/>
                    <a:p>
                      <a:r>
                        <a:rPr lang="en-US" sz="1800" dirty="0"/>
                        <a:t>Parameters</a:t>
                      </a:r>
                    </a:p>
                  </a:txBody>
                  <a:tcPr/>
                </a:tc>
                <a:tc>
                  <a:txBody>
                    <a:bodyPr/>
                    <a:lstStyle/>
                    <a:p>
                      <a:r>
                        <a:rPr lang="en-US" sz="1800" dirty="0"/>
                        <a:t>Observations</a:t>
                      </a:r>
                    </a:p>
                  </a:txBody>
                  <a:tcPr/>
                </a:tc>
                <a:extLst>
                  <a:ext uri="{0D108BD9-81ED-4DB2-BD59-A6C34878D82A}">
                    <a16:rowId xmlns:a16="http://schemas.microsoft.com/office/drawing/2014/main" val="10000"/>
                  </a:ext>
                </a:extLst>
              </a:tr>
              <a:tr h="620442">
                <a:tc>
                  <a:txBody>
                    <a:bodyPr/>
                    <a:lstStyle/>
                    <a:p>
                      <a:pPr>
                        <a:buNone/>
                      </a:pPr>
                      <a:r>
                        <a:rPr lang="en-IN" sz="1100" dirty="0"/>
                        <a:t>1. Dual-Attention CNN-</a:t>
                      </a:r>
                      <a:r>
                        <a:rPr lang="en-IN" sz="1100" dirty="0" err="1"/>
                        <a:t>BiLSTM</a:t>
                      </a:r>
                      <a:endParaRPr lang="en-IN" sz="1100" dirty="0"/>
                    </a:p>
                  </a:txBody>
                  <a:tcPr anchor="ctr"/>
                </a:tc>
                <a:tc>
                  <a:txBody>
                    <a:bodyPr/>
                    <a:lstStyle/>
                    <a:p>
                      <a:pPr>
                        <a:buNone/>
                      </a:pPr>
                      <a:r>
                        <a:rPr lang="en-IN" sz="1100" dirty="0"/>
                        <a:t>2026</a:t>
                      </a:r>
                    </a:p>
                  </a:txBody>
                  <a:tcPr anchor="ctr"/>
                </a:tc>
                <a:tc>
                  <a:txBody>
                    <a:bodyPr/>
                    <a:lstStyle/>
                    <a:p>
                      <a:pPr>
                        <a:buNone/>
                      </a:pPr>
                      <a:r>
                        <a:rPr lang="en-IN" sz="1100"/>
                        <a:t>CNN-BiLSTM with FocusConv (local) + TempoNet (global) dual-attention modules</a:t>
                      </a:r>
                    </a:p>
                  </a:txBody>
                  <a:tcPr anchor="ctr"/>
                </a:tc>
                <a:tc>
                  <a:txBody>
                    <a:bodyPr/>
                    <a:lstStyle/>
                    <a:p>
                      <a:pPr>
                        <a:buNone/>
                      </a:pPr>
                      <a:r>
                        <a:rPr lang="en-IN" sz="1100"/>
                        <a:t>EQL v2 class-weighting for imbalance</a:t>
                      </a:r>
                    </a:p>
                  </a:txBody>
                  <a:tcPr anchor="ctr"/>
                </a:tc>
                <a:tc>
                  <a:txBody>
                    <a:bodyPr/>
                    <a:lstStyle/>
                    <a:p>
                      <a:pPr>
                        <a:buNone/>
                      </a:pPr>
                      <a:r>
                        <a:rPr lang="en-IN" sz="1100"/>
                        <a:t>Combines local and temporal feature focus; targets low detection rate of traditional models</a:t>
                      </a:r>
                    </a:p>
                  </a:txBody>
                  <a:tcPr anchor="ctr"/>
                </a:tc>
                <a:extLst>
                  <a:ext uri="{0D108BD9-81ED-4DB2-BD59-A6C34878D82A}">
                    <a16:rowId xmlns:a16="http://schemas.microsoft.com/office/drawing/2014/main" val="10001"/>
                  </a:ext>
                </a:extLst>
              </a:tr>
              <a:tr h="772963">
                <a:tc>
                  <a:txBody>
                    <a:bodyPr/>
                    <a:lstStyle/>
                    <a:p>
                      <a:pPr>
                        <a:buNone/>
                      </a:pPr>
                      <a:r>
                        <a:rPr lang="en-IN" sz="1100" dirty="0"/>
                        <a:t>2. Unified Generative &amp; Explainable AI (CPS)</a:t>
                      </a:r>
                    </a:p>
                  </a:txBody>
                  <a:tcPr anchor="ctr"/>
                </a:tc>
                <a:tc>
                  <a:txBody>
                    <a:bodyPr/>
                    <a:lstStyle/>
                    <a:p>
                      <a:pPr>
                        <a:buNone/>
                      </a:pPr>
                      <a:r>
                        <a:rPr lang="en-IN" sz="1100"/>
                        <a:t>2026</a:t>
                      </a:r>
                    </a:p>
                  </a:txBody>
                  <a:tcPr anchor="ctr"/>
                </a:tc>
                <a:tc>
                  <a:txBody>
                    <a:bodyPr/>
                    <a:lstStyle/>
                    <a:p>
                      <a:pPr>
                        <a:buNone/>
                      </a:pPr>
                      <a:r>
                        <a:rPr lang="en-IN" sz="1100"/>
                        <a:t>GAN (for class imbalance) + SHAP/LIME/attention-based XAI</a:t>
                      </a:r>
                    </a:p>
                  </a:txBody>
                  <a:tcPr anchor="ctr"/>
                </a:tc>
                <a:tc>
                  <a:txBody>
                    <a:bodyPr/>
                    <a:lstStyle/>
                    <a:p>
                      <a:pPr>
                        <a:buNone/>
                      </a:pPr>
                      <a:r>
                        <a:rPr lang="en-IN" sz="1100" dirty="0"/>
                        <a:t>Industrial CPS, </a:t>
                      </a:r>
                      <a:r>
                        <a:rPr lang="en-IN" sz="1100" dirty="0" err="1"/>
                        <a:t>IIoT</a:t>
                      </a:r>
                      <a:r>
                        <a:rPr lang="en-IN" sz="1100" dirty="0"/>
                        <a:t>, smart-grid datasets</a:t>
                      </a:r>
                    </a:p>
                  </a:txBody>
                  <a:tcPr anchor="ctr"/>
                </a:tc>
                <a:tc>
                  <a:txBody>
                    <a:bodyPr/>
                    <a:lstStyle/>
                    <a:p>
                      <a:pPr>
                        <a:buNone/>
                      </a:pPr>
                      <a:r>
                        <a:rPr lang="en-IN" sz="1100"/>
                        <a:t>97.4% accuracy, 96.1% F1, 3.1% false-alarm rate, 0.983 AUC, and 91.2% zero-day detection (vs 84.7% GAN-only and 78.6% XAI-only)</a:t>
                      </a:r>
                    </a:p>
                  </a:txBody>
                  <a:tcPr anchor="ctr"/>
                </a:tc>
                <a:extLst>
                  <a:ext uri="{0D108BD9-81ED-4DB2-BD59-A6C34878D82A}">
                    <a16:rowId xmlns:a16="http://schemas.microsoft.com/office/drawing/2014/main" val="10002"/>
                  </a:ext>
                </a:extLst>
              </a:tr>
              <a:tr h="772963">
                <a:tc>
                  <a:txBody>
                    <a:bodyPr/>
                    <a:lstStyle/>
                    <a:p>
                      <a:pPr>
                        <a:buNone/>
                      </a:pPr>
                      <a:r>
                        <a:rPr lang="en-IN" sz="1100" dirty="0"/>
                        <a:t>3. </a:t>
                      </a:r>
                      <a:r>
                        <a:rPr lang="en-IN" sz="1100" dirty="0" err="1"/>
                        <a:t>Agentra</a:t>
                      </a:r>
                      <a:endParaRPr lang="en-IN" sz="1100" dirty="0"/>
                    </a:p>
                  </a:txBody>
                  <a:tcPr anchor="ctr"/>
                </a:tc>
                <a:tc>
                  <a:txBody>
                    <a:bodyPr/>
                    <a:lstStyle/>
                    <a:p>
                      <a:pPr>
                        <a:buNone/>
                      </a:pPr>
                      <a:r>
                        <a:rPr lang="en-IN" sz="1100"/>
                        <a:t>2026</a:t>
                      </a:r>
                    </a:p>
                  </a:txBody>
                  <a:tcPr anchor="ctr"/>
                </a:tc>
                <a:tc>
                  <a:txBody>
                    <a:bodyPr/>
                    <a:lstStyle/>
                    <a:p>
                      <a:pPr>
                        <a:buNone/>
                      </a:pPr>
                      <a:r>
                        <a:rPr lang="en-IN" sz="1100" dirty="0"/>
                        <a:t>Multi-agent LLM IRS: Planner–Validator loop, Moderator gateway, Action </a:t>
                      </a:r>
                      <a:r>
                        <a:rPr lang="en-IN" sz="1100" dirty="0" err="1"/>
                        <a:t>Catalog</a:t>
                      </a:r>
                      <a:endParaRPr lang="en-IN" sz="1100" dirty="0"/>
                    </a:p>
                  </a:txBody>
                  <a:tcPr anchor="ctr"/>
                </a:tc>
                <a:tc>
                  <a:txBody>
                    <a:bodyPr/>
                    <a:lstStyle/>
                    <a:p>
                      <a:pPr>
                        <a:buNone/>
                      </a:pPr>
                      <a:r>
                        <a:rPr lang="en-IN" sz="1100"/>
                        <a:t>Grounded in MITRE ATT&amp;CK, D3FEND, NIST CSF 2.0</a:t>
                      </a:r>
                    </a:p>
                  </a:txBody>
                  <a:tcPr anchor="ctr"/>
                </a:tc>
                <a:tc>
                  <a:txBody>
                    <a:bodyPr/>
                    <a:lstStyle/>
                    <a:p>
                      <a:pPr>
                        <a:buNone/>
                      </a:pPr>
                      <a:r>
                        <a:rPr lang="en-IN" sz="1100"/>
                        <a:t>Converts alerts into structured plans; evaluated against a static OASIS CACAO playbook baseline on a 120-event corpus</a:t>
                      </a:r>
                    </a:p>
                  </a:txBody>
                  <a:tcPr anchor="ctr"/>
                </a:tc>
                <a:extLst>
                  <a:ext uri="{0D108BD9-81ED-4DB2-BD59-A6C34878D82A}">
                    <a16:rowId xmlns:a16="http://schemas.microsoft.com/office/drawing/2014/main" val="10003"/>
                  </a:ext>
                </a:extLst>
              </a:tr>
              <a:tr h="620442">
                <a:tc>
                  <a:txBody>
                    <a:bodyPr/>
                    <a:lstStyle/>
                    <a:p>
                      <a:pPr>
                        <a:buNone/>
                      </a:pPr>
                      <a:r>
                        <a:rPr lang="en-IN" sz="1100" dirty="0"/>
                        <a:t>4. CORTEX</a:t>
                      </a:r>
                    </a:p>
                  </a:txBody>
                  <a:tcPr anchor="ctr"/>
                </a:tc>
                <a:tc>
                  <a:txBody>
                    <a:bodyPr/>
                    <a:lstStyle/>
                    <a:p>
                      <a:pPr>
                        <a:buNone/>
                      </a:pPr>
                      <a:r>
                        <a:rPr lang="en-IN" sz="1100" dirty="0"/>
                        <a:t>2025</a:t>
                      </a:r>
                    </a:p>
                  </a:txBody>
                  <a:tcPr anchor="ctr"/>
                </a:tc>
                <a:tc>
                  <a:txBody>
                    <a:bodyPr/>
                    <a:lstStyle/>
                    <a:p>
                      <a:pPr>
                        <a:buNone/>
                      </a:pPr>
                      <a:r>
                        <a:rPr lang="en-IN" sz="1100" dirty="0"/>
                        <a:t>Multi-agent LLM: </a:t>
                      </a:r>
                      <a:r>
                        <a:rPr lang="en-IN" sz="1100" dirty="0" err="1"/>
                        <a:t>behavior</a:t>
                      </a:r>
                      <a:r>
                        <a:rPr lang="en-IN" sz="1100" dirty="0"/>
                        <a:t>-analysis, evidence-gathering, reasoning agents</a:t>
                      </a:r>
                    </a:p>
                  </a:txBody>
                  <a:tcPr anchor="ctr"/>
                </a:tc>
                <a:tc>
                  <a:txBody>
                    <a:bodyPr/>
                    <a:lstStyle/>
                    <a:p>
                      <a:pPr>
                        <a:buNone/>
                      </a:pPr>
                      <a:r>
                        <a:rPr lang="en-IN" sz="1100"/>
                        <a:t>Real SOC production-log dataset</a:t>
                      </a:r>
                    </a:p>
                  </a:txBody>
                  <a:tcPr anchor="ctr"/>
                </a:tc>
                <a:tc>
                  <a:txBody>
                    <a:bodyPr/>
                    <a:lstStyle/>
                    <a:p>
                      <a:pPr>
                        <a:buNone/>
                      </a:pPr>
                      <a:r>
                        <a:rPr lang="en-IN" sz="1100" dirty="0"/>
                        <a:t>Substantially reduces false positives and improves investigation quality over single-agent LLM baselines</a:t>
                      </a:r>
                    </a:p>
                  </a:txBody>
                  <a:tcPr anchor="ctr"/>
                </a:tc>
                <a:extLst>
                  <a:ext uri="{0D108BD9-81ED-4DB2-BD59-A6C34878D82A}">
                    <a16:rowId xmlns:a16="http://schemas.microsoft.com/office/drawing/2014/main" val="10005"/>
                  </a:ext>
                </a:extLst>
              </a:tr>
              <a:tr h="620442">
                <a:tc>
                  <a:txBody>
                    <a:bodyPr/>
                    <a:lstStyle/>
                    <a:p>
                      <a:pPr>
                        <a:buNone/>
                      </a:pPr>
                      <a:r>
                        <a:rPr lang="en-IN" sz="1100" dirty="0"/>
                        <a:t>5. </a:t>
                      </a:r>
                      <a:r>
                        <a:rPr lang="en-IN" sz="1100" dirty="0" err="1"/>
                        <a:t>CyberRAG</a:t>
                      </a:r>
                      <a:endParaRPr lang="en-IN" sz="1100" dirty="0"/>
                    </a:p>
                  </a:txBody>
                  <a:tcPr anchor="ctr"/>
                </a:tc>
                <a:tc>
                  <a:txBody>
                    <a:bodyPr/>
                    <a:lstStyle/>
                    <a:p>
                      <a:pPr>
                        <a:buNone/>
                      </a:pPr>
                      <a:r>
                        <a:rPr lang="en-IN" sz="1100" dirty="0"/>
                        <a:t>2025</a:t>
                      </a:r>
                    </a:p>
                  </a:txBody>
                  <a:tcPr anchor="ctr"/>
                </a:tc>
                <a:tc>
                  <a:txBody>
                    <a:bodyPr/>
                    <a:lstStyle/>
                    <a:p>
                      <a:pPr>
                        <a:buNone/>
                      </a:pPr>
                      <a:r>
                        <a:rPr lang="en-IN" sz="1100" dirty="0"/>
                        <a:t>Agentic RAG: central LLM orchestrator + attack-specific fine-tuned classifiers</a:t>
                      </a:r>
                    </a:p>
                  </a:txBody>
                  <a:tcPr anchor="ctr"/>
                </a:tc>
                <a:tc>
                  <a:txBody>
                    <a:bodyPr/>
                    <a:lstStyle/>
                    <a:p>
                      <a:pPr>
                        <a:buNone/>
                      </a:pPr>
                      <a:r>
                        <a:rPr lang="en-IN" sz="1100"/>
                        <a:t>SQLi, XSS, SSTI benchmarks</a:t>
                      </a:r>
                    </a:p>
                  </a:txBody>
                  <a:tcPr anchor="ctr"/>
                </a:tc>
                <a:tc>
                  <a:txBody>
                    <a:bodyPr/>
                    <a:lstStyle/>
                    <a:p>
                      <a:pPr>
                        <a:buNone/>
                      </a:pPr>
                      <a:r>
                        <a:rPr lang="en-IN" sz="1100"/>
                        <a:t>94.92% overall accuracy; explanations scored 0.94 BERTScore, 4.9/5 in GPT-4 expert evaluation</a:t>
                      </a:r>
                    </a:p>
                  </a:txBody>
                  <a:tcPr anchor="ctr"/>
                </a:tc>
                <a:extLst>
                  <a:ext uri="{0D108BD9-81ED-4DB2-BD59-A6C34878D82A}">
                    <a16:rowId xmlns:a16="http://schemas.microsoft.com/office/drawing/2014/main" val="10006"/>
                  </a:ext>
                </a:extLst>
              </a:tr>
              <a:tr h="620442">
                <a:tc>
                  <a:txBody>
                    <a:bodyPr/>
                    <a:lstStyle/>
                    <a:p>
                      <a:pPr>
                        <a:buNone/>
                      </a:pPr>
                      <a:r>
                        <a:rPr lang="en-IN" sz="1100" dirty="0"/>
                        <a:t>6.  </a:t>
                      </a:r>
                      <a:r>
                        <a:rPr lang="en-IN" sz="1100" dirty="0" err="1"/>
                        <a:t>eX</a:t>
                      </a:r>
                      <a:r>
                        <a:rPr lang="en-IN" sz="1100" dirty="0"/>
                        <a:t>-NIDS</a:t>
                      </a:r>
                    </a:p>
                  </a:txBody>
                  <a:tcPr anchor="ctr"/>
                </a:tc>
                <a:tc>
                  <a:txBody>
                    <a:bodyPr/>
                    <a:lstStyle/>
                    <a:p>
                      <a:pPr>
                        <a:buNone/>
                      </a:pPr>
                      <a:r>
                        <a:rPr lang="en-IN" sz="1100"/>
                        <a:t>2025</a:t>
                      </a:r>
                    </a:p>
                  </a:txBody>
                  <a:tcPr anchor="ctr"/>
                </a:tc>
                <a:tc>
                  <a:txBody>
                    <a:bodyPr/>
                    <a:lstStyle/>
                    <a:p>
                      <a:pPr>
                        <a:buNone/>
                      </a:pPr>
                      <a:r>
                        <a:rPr lang="en-IN" sz="1100" dirty="0"/>
                        <a:t>NIDS + LLM post-hoc explainer, two-stage prompting</a:t>
                      </a:r>
                    </a:p>
                  </a:txBody>
                  <a:tcPr anchor="ctr"/>
                </a:tc>
                <a:tc>
                  <a:txBody>
                    <a:bodyPr/>
                    <a:lstStyle/>
                    <a:p>
                      <a:pPr>
                        <a:buNone/>
                      </a:pPr>
                      <a:r>
                        <a:rPr lang="en-IN" sz="1100" dirty="0"/>
                        <a:t>Malicious </a:t>
                      </a:r>
                      <a:r>
                        <a:rPr lang="en-IN" sz="1100" dirty="0" err="1"/>
                        <a:t>NetFlows</a:t>
                      </a:r>
                      <a:r>
                        <a:rPr lang="en-IN" sz="1100" dirty="0"/>
                        <a:t> + CTI context</a:t>
                      </a:r>
                    </a:p>
                  </a:txBody>
                  <a:tcPr anchor="ctr"/>
                </a:tc>
                <a:tc>
                  <a:txBody>
                    <a:bodyPr/>
                    <a:lstStyle/>
                    <a:p>
                      <a:pPr>
                        <a:buNone/>
                      </a:pPr>
                      <a:r>
                        <a:rPr lang="en-IN" sz="1100" dirty="0"/>
                        <a:t>Two-stage prompting boosts explanation correctness from 40% to 80% with 100% feature consistency</a:t>
                      </a:r>
                    </a:p>
                  </a:txBody>
                  <a:tcPr anchor="ctr"/>
                </a:tc>
                <a:extLst>
                  <a:ext uri="{0D108BD9-81ED-4DB2-BD59-A6C34878D82A}">
                    <a16:rowId xmlns:a16="http://schemas.microsoft.com/office/drawing/2014/main" val="10007"/>
                  </a:ext>
                </a:extLst>
              </a:tr>
              <a:tr h="620442">
                <a:tc>
                  <a:txBody>
                    <a:bodyPr/>
                    <a:lstStyle/>
                    <a:p>
                      <a:pPr>
                        <a:buNone/>
                      </a:pPr>
                      <a:r>
                        <a:rPr lang="en-IN" sz="1100" dirty="0"/>
                        <a:t>7. Explainable DNN + SHAP</a:t>
                      </a:r>
                    </a:p>
                  </a:txBody>
                  <a:tcPr anchor="ctr"/>
                </a:tc>
                <a:tc>
                  <a:txBody>
                    <a:bodyPr/>
                    <a:lstStyle/>
                    <a:p>
                      <a:pPr>
                        <a:buNone/>
                      </a:pPr>
                      <a:r>
                        <a:rPr lang="en-IN" sz="1100"/>
                        <a:t>2023</a:t>
                      </a:r>
                    </a:p>
                  </a:txBody>
                  <a:tcPr anchor="ctr"/>
                </a:tc>
                <a:tc>
                  <a:txBody>
                    <a:bodyPr/>
                    <a:lstStyle/>
                    <a:p>
                      <a:pPr>
                        <a:buNone/>
                      </a:pPr>
                      <a:r>
                        <a:rPr lang="en-IN" sz="1100"/>
                        <a:t>DNN with SHAP (local + global explainability)</a:t>
                      </a:r>
                    </a:p>
                  </a:txBody>
                  <a:tcPr anchor="ctr"/>
                </a:tc>
                <a:tc>
                  <a:txBody>
                    <a:bodyPr/>
                    <a:lstStyle/>
                    <a:p>
                      <a:pPr>
                        <a:buNone/>
                      </a:pPr>
                      <a:r>
                        <a:rPr lang="en-IN" sz="1100" dirty="0"/>
                        <a:t>NSL-KDD, UNSW-NB15</a:t>
                      </a:r>
                    </a:p>
                  </a:txBody>
                  <a:tcPr anchor="ctr"/>
                </a:tc>
                <a:tc>
                  <a:txBody>
                    <a:bodyPr/>
                    <a:lstStyle/>
                    <a:p>
                      <a:pPr>
                        <a:buNone/>
                      </a:pPr>
                      <a:r>
                        <a:rPr lang="en-IN" sz="1100" dirty="0"/>
                        <a:t>Achieved accuracy of 99.99% and 99.96% respectively; identifies top-4 features locally, top-20 globally</a:t>
                      </a:r>
                    </a:p>
                  </a:txBody>
                  <a:tcPr anchor="ctr"/>
                </a:tc>
                <a:extLst>
                  <a:ext uri="{0D108BD9-81ED-4DB2-BD59-A6C34878D82A}">
                    <a16:rowId xmlns:a16="http://schemas.microsoft.com/office/drawing/2014/main" val="2065025664"/>
                  </a:ext>
                </a:extLst>
              </a:tr>
              <a:tr h="772963">
                <a:tc>
                  <a:txBody>
                    <a:bodyPr/>
                    <a:lstStyle/>
                    <a:p>
                      <a:pPr>
                        <a:buNone/>
                      </a:pPr>
                      <a:r>
                        <a:rPr lang="en-IN" sz="1100" dirty="0"/>
                        <a:t>8. IRCOPILOT</a:t>
                      </a:r>
                    </a:p>
                  </a:txBody>
                  <a:tcPr anchor="ctr"/>
                </a:tc>
                <a:tc>
                  <a:txBody>
                    <a:bodyPr/>
                    <a:lstStyle/>
                    <a:p>
                      <a:pPr>
                        <a:buNone/>
                      </a:pPr>
                      <a:r>
                        <a:rPr lang="en-IN" sz="1100"/>
                        <a:t>2025</a:t>
                      </a:r>
                    </a:p>
                  </a:txBody>
                  <a:tcPr anchor="ctr"/>
                </a:tc>
                <a:tc>
                  <a:txBody>
                    <a:bodyPr/>
                    <a:lstStyle/>
                    <a:p>
                      <a:pPr>
                        <a:buNone/>
                      </a:pPr>
                      <a:r>
                        <a:rPr lang="en-IN" sz="1100" dirty="0"/>
                        <a:t>4 collaborative LLM session components mimicking IR team phases</a:t>
                      </a:r>
                    </a:p>
                  </a:txBody>
                  <a:tcPr anchor="ctr"/>
                </a:tc>
                <a:tc>
                  <a:txBody>
                    <a:bodyPr/>
                    <a:lstStyle/>
                    <a:p>
                      <a:pPr>
                        <a:buNone/>
                      </a:pPr>
                      <a:r>
                        <a:rPr lang="en-IN" sz="1100" dirty="0"/>
                        <a:t>Incremental real-world IR benchmark</a:t>
                      </a:r>
                    </a:p>
                  </a:txBody>
                  <a:tcPr anchor="ctr"/>
                </a:tc>
                <a:tc>
                  <a:txBody>
                    <a:bodyPr/>
                    <a:lstStyle/>
                    <a:p>
                      <a:pPr>
                        <a:buNone/>
                      </a:pPr>
                      <a:r>
                        <a:rPr lang="en-IN" sz="1100" dirty="0"/>
                        <a:t>Sub-task completion rates of 150%, 138%, 136%, 119%, 114% vs baseline LLMs across tasks</a:t>
                      </a:r>
                    </a:p>
                  </a:txBody>
                  <a:tcPr anchor="ctr"/>
                </a:tc>
                <a:extLst>
                  <a:ext uri="{0D108BD9-81ED-4DB2-BD59-A6C34878D82A}">
                    <a16:rowId xmlns:a16="http://schemas.microsoft.com/office/drawing/2014/main" val="575557009"/>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4837044" y="185530"/>
            <a:ext cx="2078005" cy="584775"/>
          </a:xfrm>
          <a:prstGeom prst="rect">
            <a:avLst/>
          </a:prstGeom>
          <a:noFill/>
        </p:spPr>
        <p:txBody>
          <a:bodyPr wrap="none" rtlCol="0">
            <a:spAutoFit/>
          </a:bodyPr>
          <a:lstStyle/>
          <a:p>
            <a:r>
              <a:rPr lang="en-US" sz="3200" b="1" dirty="0">
                <a:solidFill>
                  <a:srgbClr val="FF0000"/>
                </a:solidFill>
              </a:rPr>
              <a:t>Limitations</a:t>
            </a:r>
          </a:p>
        </p:txBody>
      </p:sp>
      <p:sp>
        <p:nvSpPr>
          <p:cNvPr id="2" name="TextBox 1">
            <a:extLst>
              <a:ext uri="{FF2B5EF4-FFF2-40B4-BE49-F238E27FC236}">
                <a16:creationId xmlns:a16="http://schemas.microsoft.com/office/drawing/2014/main" id="{88651BD0-1CF8-B863-1995-59B262248572}"/>
              </a:ext>
            </a:extLst>
          </p:cNvPr>
          <p:cNvSpPr txBox="1"/>
          <p:nvPr/>
        </p:nvSpPr>
        <p:spPr>
          <a:xfrm>
            <a:off x="0" y="1035698"/>
            <a:ext cx="12192000" cy="5545621"/>
          </a:xfrm>
          <a:prstGeom prst="rect">
            <a:avLst/>
          </a:prstGeom>
          <a:noFill/>
        </p:spPr>
        <p:txBody>
          <a:bodyPr wrap="square" rtlCol="0">
            <a:spAutoFit/>
          </a:bodyPr>
          <a:lstStyle/>
          <a:p>
            <a:pPr marL="342900" lvl="0" indent="-342900">
              <a:lnSpc>
                <a:spcPct val="150000"/>
              </a:lnSpc>
              <a:buFont typeface="+mj-lt"/>
              <a:buAutoNum type="arabicPeriod"/>
            </a:pPr>
            <a:r>
              <a:rPr lang="en-IN" sz="1700" b="1" dirty="0"/>
              <a:t>Limited dataset diversity</a:t>
            </a:r>
            <a:r>
              <a:rPr lang="en-IN" sz="1700" dirty="0"/>
              <a:t> – Most studies rely on a single or small set of benchmark datasets (e.g., CIC-IDS2017, NSL-KDD), reducing generalization to real-world traffic.</a:t>
            </a:r>
          </a:p>
          <a:p>
            <a:pPr marL="342900" lvl="0" indent="-342900">
              <a:lnSpc>
                <a:spcPct val="150000"/>
              </a:lnSpc>
              <a:buFont typeface="+mj-lt"/>
              <a:buAutoNum type="arabicPeriod"/>
            </a:pPr>
            <a:r>
              <a:rPr lang="en-IN" sz="1700" b="1" dirty="0"/>
              <a:t>High computational cost</a:t>
            </a:r>
            <a:r>
              <a:rPr lang="en-IN" sz="1700" dirty="0"/>
              <a:t> – Deep or hybrid models (CNN‑</a:t>
            </a:r>
            <a:r>
              <a:rPr lang="en-IN" sz="1700" dirty="0" err="1"/>
              <a:t>BiLSTM</a:t>
            </a:r>
            <a:r>
              <a:rPr lang="en-IN" sz="1700" dirty="0"/>
              <a:t>, GAN‑based, multi‑agent) demand heavy resources, limiting deployment on edge or IoT devices.</a:t>
            </a:r>
          </a:p>
          <a:p>
            <a:pPr marL="342900" lvl="0" indent="-342900">
              <a:lnSpc>
                <a:spcPct val="150000"/>
              </a:lnSpc>
              <a:buFont typeface="+mj-lt"/>
              <a:buAutoNum type="arabicPeriod"/>
            </a:pPr>
            <a:r>
              <a:rPr lang="en-IN" sz="1700" b="1" dirty="0"/>
              <a:t>Weak real‑time validation</a:t>
            </a:r>
            <a:r>
              <a:rPr lang="en-IN" sz="1700" dirty="0"/>
              <a:t> – Several frameworks report accuracy but omit latency or operational feasibility in live environments.</a:t>
            </a:r>
          </a:p>
          <a:p>
            <a:pPr marL="342900" lvl="0" indent="-342900">
              <a:lnSpc>
                <a:spcPct val="150000"/>
              </a:lnSpc>
              <a:buFont typeface="+mj-lt"/>
              <a:buAutoNum type="arabicPeriod"/>
            </a:pPr>
            <a:r>
              <a:rPr lang="en-IN" sz="1700" b="1" dirty="0"/>
              <a:t>Restricted explainability scope</a:t>
            </a:r>
            <a:r>
              <a:rPr lang="en-IN" sz="1700" dirty="0"/>
              <a:t> – Many XAI integrations (SHAP, LIME) provide global insights but lack fine‑grained, case‑specific explanations for analysts.</a:t>
            </a:r>
          </a:p>
          <a:p>
            <a:pPr marL="342900" lvl="0" indent="-342900">
              <a:lnSpc>
                <a:spcPct val="150000"/>
              </a:lnSpc>
              <a:buFont typeface="+mj-lt"/>
              <a:buAutoNum type="arabicPeriod"/>
            </a:pPr>
            <a:r>
              <a:rPr lang="en-IN" sz="1700" b="1" dirty="0"/>
              <a:t>Single‑dataset or lab‑only evaluation</a:t>
            </a:r>
            <a:r>
              <a:rPr lang="en-IN" sz="1700" dirty="0"/>
              <a:t> – Few papers test across heterogeneous or cross‑domain scenarios, leaving robustness underexplored.</a:t>
            </a:r>
          </a:p>
          <a:p>
            <a:pPr marL="342900" lvl="0" indent="-342900">
              <a:lnSpc>
                <a:spcPct val="150000"/>
              </a:lnSpc>
              <a:buFont typeface="+mj-lt"/>
              <a:buAutoNum type="arabicPeriod"/>
            </a:pPr>
            <a:r>
              <a:rPr lang="en-IN" sz="1700" b="1" dirty="0"/>
              <a:t>Incomplete handling of data imbalance and zero‑day attacks</a:t>
            </a:r>
            <a:r>
              <a:rPr lang="en-IN" sz="1700" dirty="0"/>
              <a:t> – Techniques improve minority‑class recall but still struggle with unseen or evolving threats.</a:t>
            </a:r>
          </a:p>
          <a:p>
            <a:pPr marL="342900" lvl="0" indent="-342900">
              <a:lnSpc>
                <a:spcPct val="150000"/>
              </a:lnSpc>
              <a:buFont typeface="+mj-lt"/>
              <a:buAutoNum type="arabicPeriod"/>
            </a:pPr>
            <a:r>
              <a:rPr lang="en-IN" sz="1700" b="1" dirty="0"/>
              <a:t>Limited integration with human workflows</a:t>
            </a:r>
            <a:r>
              <a:rPr lang="en-IN" sz="1700" dirty="0"/>
              <a:t> – Agentic or LLM‑based systems show promise but lack standardized evaluation of trustworthiness, supervision, and auditability.</a:t>
            </a:r>
          </a:p>
          <a:p>
            <a:pPr marL="342900" indent="-342900">
              <a:lnSpc>
                <a:spcPct val="150000"/>
              </a:lnSpc>
              <a:buFont typeface="+mj-lt"/>
              <a:buAutoNum type="arabicPeriod"/>
            </a:pPr>
            <a:endParaRPr lang="en-IN"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4349752" y="185530"/>
            <a:ext cx="3492495" cy="584775"/>
          </a:xfrm>
          <a:prstGeom prst="rect">
            <a:avLst/>
          </a:prstGeom>
          <a:noFill/>
        </p:spPr>
        <p:txBody>
          <a:bodyPr wrap="none" rtlCol="0">
            <a:spAutoFit/>
          </a:bodyPr>
          <a:lstStyle/>
          <a:p>
            <a:r>
              <a:rPr lang="en-US" sz="3200" b="1" dirty="0">
                <a:solidFill>
                  <a:srgbClr val="FF0000"/>
                </a:solidFill>
              </a:rPr>
              <a:t>Problem Statement</a:t>
            </a:r>
          </a:p>
        </p:txBody>
      </p:sp>
      <p:sp>
        <p:nvSpPr>
          <p:cNvPr id="2" name="Text Box 1"/>
          <p:cNvSpPr txBox="1"/>
          <p:nvPr/>
        </p:nvSpPr>
        <p:spPr>
          <a:xfrm>
            <a:off x="277514" y="1240336"/>
            <a:ext cx="11636971" cy="4661276"/>
          </a:xfrm>
          <a:prstGeom prst="rect">
            <a:avLst/>
          </a:prstGeom>
        </p:spPr>
        <p:txBody>
          <a:bodyPr wrap="square">
            <a:spAutoFit/>
          </a:bodyPr>
          <a:lstStyle/>
          <a:p>
            <a:pPr marL="457200" lvl="0" indent="-457200">
              <a:lnSpc>
                <a:spcPct val="150000"/>
              </a:lnSpc>
              <a:buFont typeface="+mj-lt"/>
              <a:buAutoNum type="arabicPeriod"/>
            </a:pPr>
            <a:r>
              <a:rPr lang="en-IN" sz="2000" dirty="0"/>
              <a:t>Traditional IDS rely on static signatures or rules, making them ineffective against </a:t>
            </a:r>
            <a:r>
              <a:rPr lang="en-IN" sz="2000" b="1" dirty="0"/>
              <a:t>unknown or evolving attack patterns</a:t>
            </a:r>
            <a:r>
              <a:rPr lang="en-IN" sz="2000" dirty="0"/>
              <a:t>.</a:t>
            </a:r>
          </a:p>
          <a:p>
            <a:pPr marL="457200" lvl="0" indent="-457200">
              <a:lnSpc>
                <a:spcPct val="150000"/>
              </a:lnSpc>
              <a:buFont typeface="+mj-lt"/>
              <a:buAutoNum type="arabicPeriod"/>
            </a:pPr>
            <a:r>
              <a:rPr lang="en-IN" sz="2000" dirty="0"/>
              <a:t>Analysts face </a:t>
            </a:r>
            <a:r>
              <a:rPr lang="en-IN" sz="2000" b="1" dirty="0"/>
              <a:t>alert overload</a:t>
            </a:r>
            <a:r>
              <a:rPr lang="en-IN" sz="2000" dirty="0"/>
              <a:t>, receiving thousands of alerts without clear prioritization or actionable context.</a:t>
            </a:r>
          </a:p>
          <a:p>
            <a:pPr marL="457200" lvl="0" indent="-457200">
              <a:lnSpc>
                <a:spcPct val="150000"/>
              </a:lnSpc>
              <a:buFont typeface="+mj-lt"/>
              <a:buAutoNum type="arabicPeriod"/>
            </a:pPr>
            <a:r>
              <a:rPr lang="en-IN" sz="2000" dirty="0"/>
              <a:t>Current systems lack </a:t>
            </a:r>
            <a:r>
              <a:rPr lang="en-IN" sz="2000" b="1" dirty="0"/>
              <a:t>explainability</a:t>
            </a:r>
            <a:r>
              <a:rPr lang="en-IN" sz="2000" dirty="0"/>
              <a:t>, leaving security teams uncertain about why an alert was triggered or how to respond.</a:t>
            </a:r>
          </a:p>
          <a:p>
            <a:pPr marL="457200" lvl="0" indent="-457200">
              <a:lnSpc>
                <a:spcPct val="150000"/>
              </a:lnSpc>
              <a:buFont typeface="+mj-lt"/>
              <a:buAutoNum type="arabicPeriod"/>
            </a:pPr>
            <a:r>
              <a:rPr lang="en-IN" sz="2000" dirty="0"/>
              <a:t>Manual investigation and triage are </a:t>
            </a:r>
            <a:r>
              <a:rPr lang="en-IN" sz="2000" b="1" dirty="0"/>
              <a:t>slow and resource‑intensive</a:t>
            </a:r>
            <a:r>
              <a:rPr lang="en-IN" sz="2000" dirty="0"/>
              <a:t>, delaying containment and increasing risk.</a:t>
            </a:r>
          </a:p>
          <a:p>
            <a:pPr marL="457200" lvl="0" indent="-457200">
              <a:lnSpc>
                <a:spcPct val="150000"/>
              </a:lnSpc>
              <a:buFont typeface="+mj-lt"/>
              <a:buAutoNum type="arabicPeriod"/>
            </a:pPr>
            <a:r>
              <a:rPr lang="en-IN" sz="2000" dirty="0"/>
              <a:t>Response workflows are </a:t>
            </a:r>
            <a:r>
              <a:rPr lang="en-IN" sz="2000" b="1" dirty="0"/>
              <a:t>fragmented and reactive</a:t>
            </a:r>
            <a:r>
              <a:rPr lang="en-IN" sz="2000" dirty="0"/>
              <a:t>, with no closed‑loop verification or adaptive learning from past incidents.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4837044" y="185530"/>
            <a:ext cx="1968231" cy="584775"/>
          </a:xfrm>
          <a:prstGeom prst="rect">
            <a:avLst/>
          </a:prstGeom>
          <a:noFill/>
        </p:spPr>
        <p:txBody>
          <a:bodyPr wrap="none" rtlCol="0">
            <a:spAutoFit/>
          </a:bodyPr>
          <a:lstStyle/>
          <a:p>
            <a:r>
              <a:rPr lang="en-US" sz="3200" b="1" dirty="0">
                <a:solidFill>
                  <a:srgbClr val="FF0000"/>
                </a:solidFill>
              </a:rPr>
              <a:t>Objectives</a:t>
            </a:r>
          </a:p>
        </p:txBody>
      </p:sp>
      <p:sp>
        <p:nvSpPr>
          <p:cNvPr id="2" name="Text Box 1"/>
          <p:cNvSpPr txBox="1"/>
          <p:nvPr/>
        </p:nvSpPr>
        <p:spPr>
          <a:xfrm>
            <a:off x="453688" y="1502229"/>
            <a:ext cx="10976312" cy="4599991"/>
          </a:xfrm>
          <a:prstGeom prst="rect">
            <a:avLst/>
          </a:prstGeom>
          <a:noFill/>
        </p:spPr>
        <p:txBody>
          <a:bodyPr wrap="square" rtlCol="0">
            <a:noAutofit/>
          </a:bodyPr>
          <a:lstStyle/>
          <a:p>
            <a:pPr algn="just"/>
            <a:r>
              <a:rPr lang="en-US" altLang="en-US" sz="2000" dirty="0"/>
              <a:t>1. To </a:t>
            </a:r>
            <a:r>
              <a:rPr lang="en-US" altLang="en-US" sz="2000" i="1" dirty="0"/>
              <a:t>detect suspicious and malicious network activity </a:t>
            </a:r>
            <a:r>
              <a:rPr lang="en-US" altLang="en-US" sz="2000" dirty="0"/>
              <a:t>using machine-learning models.</a:t>
            </a:r>
          </a:p>
          <a:p>
            <a:pPr algn="just"/>
            <a:endParaRPr lang="en-US" altLang="en-US" sz="2000" dirty="0"/>
          </a:p>
          <a:p>
            <a:pPr algn="just"/>
            <a:r>
              <a:rPr lang="en-US" altLang="en-US" sz="2000" dirty="0"/>
              <a:t>2. To develop specialized AI agents for </a:t>
            </a:r>
            <a:r>
              <a:rPr lang="en-US" altLang="en-US" sz="2000" i="1" dirty="0"/>
              <a:t>monitoring, detection, diagnosis, threat prioritization, and response planning</a:t>
            </a:r>
            <a:r>
              <a:rPr lang="en-US" altLang="en-US" sz="2000" dirty="0"/>
              <a:t>.</a:t>
            </a:r>
          </a:p>
          <a:p>
            <a:pPr algn="just"/>
            <a:endParaRPr lang="en-US" altLang="en-US" sz="2000" dirty="0"/>
          </a:p>
          <a:p>
            <a:pPr algn="just"/>
            <a:r>
              <a:rPr lang="en-US" altLang="en-US" sz="2000" dirty="0"/>
              <a:t>3. To use </a:t>
            </a:r>
            <a:r>
              <a:rPr lang="en-US" altLang="en-US" sz="2000" i="1" dirty="0"/>
              <a:t>Retrieval-Augmented Generation </a:t>
            </a:r>
            <a:r>
              <a:rPr lang="en-US" altLang="en-US" sz="2000" dirty="0"/>
              <a:t>(RAG) to retrieve relevant cybersecurity knowledge, response procedures, and previous incident information.</a:t>
            </a:r>
          </a:p>
          <a:p>
            <a:pPr algn="just"/>
            <a:endParaRPr lang="en-US" altLang="en-US" sz="2000" dirty="0"/>
          </a:p>
          <a:p>
            <a:pPr algn="just"/>
            <a:r>
              <a:rPr lang="en-US" altLang="en-US" sz="2000" dirty="0"/>
              <a:t>4. To recommend suitable response actions and obtain </a:t>
            </a:r>
            <a:r>
              <a:rPr lang="en-US" altLang="en-US" sz="2000" i="1" dirty="0"/>
              <a:t>human approval </a:t>
            </a:r>
            <a:r>
              <a:rPr lang="en-US" altLang="en-US" sz="2000" dirty="0"/>
              <a:t>before executing sensitive security operations.</a:t>
            </a:r>
          </a:p>
          <a:p>
            <a:pPr algn="just"/>
            <a:endParaRPr lang="en-US" altLang="en-US" sz="2000" dirty="0"/>
          </a:p>
          <a:p>
            <a:pPr algn="just"/>
            <a:r>
              <a:rPr lang="en-US" altLang="en-US" sz="2000" dirty="0"/>
              <a:t>5. To verify the effectiveness of the response and store resolved incidents for improving future threat investigations.</a:t>
            </a:r>
          </a:p>
          <a:p>
            <a:pPr algn="just"/>
            <a:endParaRPr lang="en-US" altLang="en-US"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4543652" y="121704"/>
            <a:ext cx="3104696" cy="584775"/>
          </a:xfrm>
          <a:prstGeom prst="rect">
            <a:avLst/>
          </a:prstGeom>
          <a:noFill/>
        </p:spPr>
        <p:txBody>
          <a:bodyPr wrap="none" rtlCol="0">
            <a:spAutoFit/>
          </a:bodyPr>
          <a:lstStyle/>
          <a:p>
            <a:pPr algn="ctr"/>
            <a:r>
              <a:rPr lang="en-US" sz="3200" b="1" dirty="0">
                <a:solidFill>
                  <a:srgbClr val="FF0000"/>
                </a:solidFill>
              </a:rPr>
              <a:t>Proposed System</a:t>
            </a:r>
          </a:p>
        </p:txBody>
      </p:sp>
      <p:sp>
        <p:nvSpPr>
          <p:cNvPr id="3" name="TextBox 2">
            <a:extLst>
              <a:ext uri="{FF2B5EF4-FFF2-40B4-BE49-F238E27FC236}">
                <a16:creationId xmlns:a16="http://schemas.microsoft.com/office/drawing/2014/main" id="{52A972DD-AFBE-B049-83E9-A08221AC0C36}"/>
              </a:ext>
            </a:extLst>
          </p:cNvPr>
          <p:cNvSpPr txBox="1"/>
          <p:nvPr/>
        </p:nvSpPr>
        <p:spPr>
          <a:xfrm>
            <a:off x="60649" y="1178629"/>
            <a:ext cx="11966510" cy="5001369"/>
          </a:xfrm>
          <a:prstGeom prst="rect">
            <a:avLst/>
          </a:prstGeom>
          <a:noFill/>
        </p:spPr>
        <p:txBody>
          <a:bodyPr wrap="square">
            <a:spAutoFit/>
          </a:bodyPr>
          <a:lstStyle/>
          <a:p>
            <a:pPr>
              <a:spcBef>
                <a:spcPts val="100"/>
              </a:spcBef>
              <a:buNone/>
            </a:pPr>
            <a:r>
              <a:rPr lang="en-IN" sz="1600" b="1" dirty="0"/>
              <a:t>1. Network Data &amp; ML Detection</a:t>
            </a:r>
            <a:endParaRPr lang="en-IN" sz="1600" dirty="0"/>
          </a:p>
          <a:p>
            <a:pPr marL="342900" lvl="0" indent="-342900">
              <a:spcBef>
                <a:spcPts val="100"/>
              </a:spcBef>
              <a:buFont typeface="Arial" panose="020B0604020202020204" pitchFamily="34" charset="0"/>
              <a:buChar char="•"/>
            </a:pPr>
            <a:r>
              <a:rPr lang="en-IN" sz="1600" dirty="0"/>
              <a:t>Processes benchmark datasets such as </a:t>
            </a:r>
            <a:r>
              <a:rPr lang="en-IN" sz="1600" b="1" dirty="0"/>
              <a:t>NSL-KDD and CICIDS2017</a:t>
            </a:r>
            <a:r>
              <a:rPr lang="en-IN" sz="1600" dirty="0"/>
              <a:t>. </a:t>
            </a:r>
          </a:p>
          <a:p>
            <a:pPr marL="342900" lvl="0" indent="-342900">
              <a:spcBef>
                <a:spcPts val="100"/>
              </a:spcBef>
              <a:buFont typeface="Arial" panose="020B0604020202020204" pitchFamily="34" charset="0"/>
              <a:buChar char="•"/>
            </a:pPr>
            <a:r>
              <a:rPr lang="en-IN" sz="1600" dirty="0"/>
              <a:t>Network-flow features are pre-processed before classification. </a:t>
            </a:r>
          </a:p>
          <a:p>
            <a:pPr marL="342900" lvl="0" indent="-342900">
              <a:spcBef>
                <a:spcPts val="100"/>
              </a:spcBef>
              <a:buFont typeface="Arial" panose="020B0604020202020204" pitchFamily="34" charset="0"/>
              <a:buChar char="•"/>
            </a:pPr>
            <a:r>
              <a:rPr lang="en-IN" sz="1600" b="1" dirty="0"/>
              <a:t>Random Forest, </a:t>
            </a:r>
            <a:r>
              <a:rPr lang="en-IN" sz="1600" b="1" dirty="0" err="1"/>
              <a:t>XGBoost</a:t>
            </a:r>
            <a:r>
              <a:rPr lang="en-IN" sz="1600" b="1" dirty="0"/>
              <a:t>, and Isolation Forest</a:t>
            </a:r>
            <a:r>
              <a:rPr lang="en-IN" sz="1600" dirty="0"/>
              <a:t> are used for classification and anomaly detection. </a:t>
            </a:r>
          </a:p>
          <a:p>
            <a:pPr marL="342900" lvl="0" indent="-342900">
              <a:spcBef>
                <a:spcPts val="100"/>
              </a:spcBef>
              <a:buFont typeface="Arial" panose="020B0604020202020204" pitchFamily="34" charset="0"/>
              <a:buChar char="•"/>
            </a:pPr>
            <a:r>
              <a:rPr lang="en-IN" sz="1600" dirty="0"/>
              <a:t>ML performs the actual network traffic detection. </a:t>
            </a:r>
          </a:p>
          <a:p>
            <a:pPr lvl="0">
              <a:spcBef>
                <a:spcPts val="100"/>
              </a:spcBef>
            </a:pPr>
            <a:endParaRPr lang="en-IN" sz="1600" dirty="0"/>
          </a:p>
          <a:p>
            <a:pPr>
              <a:spcBef>
                <a:spcPts val="100"/>
              </a:spcBef>
              <a:buNone/>
            </a:pPr>
            <a:r>
              <a:rPr lang="en-IN" sz="1600" b="1" dirty="0"/>
              <a:t>2. Multi-Agent Investigation</a:t>
            </a:r>
            <a:endParaRPr lang="en-IN" sz="1600" dirty="0"/>
          </a:p>
          <a:p>
            <a:pPr marL="342900" lvl="0" indent="-342900">
              <a:spcBef>
                <a:spcPts val="100"/>
              </a:spcBef>
              <a:buFont typeface="Arial" panose="020B0604020202020204" pitchFamily="34" charset="0"/>
              <a:buChar char="•"/>
            </a:pPr>
            <a:r>
              <a:rPr lang="en-IN" sz="1600" b="1" dirty="0"/>
              <a:t>Monitoring Agent:</a:t>
            </a:r>
            <a:r>
              <a:rPr lang="en-IN" sz="1600" dirty="0"/>
              <a:t> Receives and validates network events. </a:t>
            </a:r>
          </a:p>
          <a:p>
            <a:pPr marL="342900" lvl="0" indent="-342900">
              <a:spcBef>
                <a:spcPts val="100"/>
              </a:spcBef>
              <a:buFont typeface="Arial" panose="020B0604020202020204" pitchFamily="34" charset="0"/>
              <a:buChar char="•"/>
            </a:pPr>
            <a:r>
              <a:rPr lang="en-IN" sz="1600" b="1" dirty="0"/>
              <a:t>Detection Agent:</a:t>
            </a:r>
            <a:r>
              <a:rPr lang="en-IN" sz="1600" dirty="0"/>
              <a:t> Executes ML models and produces attack prediction, category, confidence, and anomaly information. </a:t>
            </a:r>
          </a:p>
          <a:p>
            <a:pPr marL="342900" lvl="0" indent="-342900">
              <a:spcBef>
                <a:spcPts val="100"/>
              </a:spcBef>
              <a:buFont typeface="Arial" panose="020B0604020202020204" pitchFamily="34" charset="0"/>
              <a:buChar char="•"/>
            </a:pPr>
            <a:r>
              <a:rPr lang="en-IN" sz="1600" b="1" dirty="0"/>
              <a:t>Diagnosis Agent:</a:t>
            </a:r>
            <a:r>
              <a:rPr lang="en-IN" sz="1600" dirty="0"/>
              <a:t> Investigates suspicious events, </a:t>
            </a:r>
            <a:r>
              <a:rPr lang="en-IN" sz="1600" dirty="0" err="1"/>
              <a:t>analyzes</a:t>
            </a:r>
            <a:r>
              <a:rPr lang="en-IN" sz="1600" dirty="0"/>
              <a:t> evidence, and generates possible attack hypotheses. </a:t>
            </a:r>
          </a:p>
          <a:p>
            <a:pPr marL="342900" lvl="0" indent="-342900">
              <a:spcBef>
                <a:spcPts val="100"/>
              </a:spcBef>
              <a:buFont typeface="Arial" panose="020B0604020202020204" pitchFamily="34" charset="0"/>
              <a:buChar char="•"/>
            </a:pPr>
            <a:r>
              <a:rPr lang="en-IN" sz="1600" b="1" dirty="0"/>
              <a:t>Threat Intelligence &amp; RAG Agent:</a:t>
            </a:r>
            <a:r>
              <a:rPr lang="en-IN" sz="1600" dirty="0"/>
              <a:t> Retrieves relevant cybersecurity knowledge. </a:t>
            </a:r>
          </a:p>
          <a:p>
            <a:pPr marL="342900" lvl="0" indent="-342900">
              <a:spcBef>
                <a:spcPts val="100"/>
              </a:spcBef>
              <a:buFont typeface="Arial" panose="020B0604020202020204" pitchFamily="34" charset="0"/>
              <a:buChar char="•"/>
            </a:pPr>
            <a:r>
              <a:rPr lang="en-IN" sz="1600" b="1" dirty="0"/>
              <a:t>Prioritization Agent:</a:t>
            </a:r>
            <a:r>
              <a:rPr lang="en-IN" sz="1600" dirty="0"/>
              <a:t> Determines risk, severity, and priority. </a:t>
            </a:r>
          </a:p>
          <a:p>
            <a:pPr marL="342900" lvl="0" indent="-342900">
              <a:spcBef>
                <a:spcPts val="100"/>
              </a:spcBef>
              <a:buFont typeface="Arial" panose="020B0604020202020204" pitchFamily="34" charset="0"/>
              <a:buChar char="•"/>
            </a:pPr>
            <a:r>
              <a:rPr lang="en-IN" sz="1600" b="1" dirty="0"/>
              <a:t>Response Agent:</a:t>
            </a:r>
            <a:r>
              <a:rPr lang="en-IN" sz="1600" dirty="0"/>
              <a:t> Generates and manages the response plan. </a:t>
            </a:r>
          </a:p>
          <a:p>
            <a:pPr lvl="0">
              <a:spcBef>
                <a:spcPts val="100"/>
              </a:spcBef>
            </a:pPr>
            <a:endParaRPr lang="en-IN" sz="1600" dirty="0"/>
          </a:p>
          <a:p>
            <a:pPr>
              <a:spcBef>
                <a:spcPts val="100"/>
              </a:spcBef>
              <a:buNone/>
            </a:pPr>
            <a:r>
              <a:rPr lang="en-IN" sz="1600" b="1" dirty="0"/>
              <a:t>3. Intelligent Decision Support</a:t>
            </a:r>
            <a:endParaRPr lang="en-IN" sz="1600" dirty="0"/>
          </a:p>
          <a:p>
            <a:pPr marL="342900" lvl="0" indent="-342900">
              <a:spcBef>
                <a:spcPts val="100"/>
              </a:spcBef>
              <a:buFont typeface="Arial" panose="020B0604020202020204" pitchFamily="34" charset="0"/>
              <a:buChar char="•"/>
            </a:pPr>
            <a:r>
              <a:rPr lang="en-IN" sz="1600" b="1" dirty="0"/>
              <a:t>LLM:</a:t>
            </a:r>
            <a:r>
              <a:rPr lang="en-IN" sz="1600" dirty="0"/>
              <a:t> Used for investigation, reasoning, explanation, and response planning. </a:t>
            </a:r>
          </a:p>
          <a:p>
            <a:pPr marL="342900" lvl="0" indent="-342900">
              <a:spcBef>
                <a:spcPts val="100"/>
              </a:spcBef>
              <a:buFont typeface="Arial" panose="020B0604020202020204" pitchFamily="34" charset="0"/>
              <a:buChar char="•"/>
            </a:pPr>
            <a:r>
              <a:rPr lang="en-IN" sz="1600" b="1" dirty="0"/>
              <a:t>RAG:</a:t>
            </a:r>
            <a:r>
              <a:rPr lang="en-IN" sz="1600" dirty="0"/>
              <a:t> Provides contextual cybersecurity knowledge. </a:t>
            </a:r>
          </a:p>
          <a:p>
            <a:pPr marL="342900" lvl="0" indent="-342900">
              <a:spcBef>
                <a:spcPts val="100"/>
              </a:spcBef>
              <a:buFont typeface="Arial" panose="020B0604020202020204" pitchFamily="34" charset="0"/>
              <a:buChar char="•"/>
            </a:pPr>
            <a:r>
              <a:rPr lang="en-IN" sz="1600" b="1" dirty="0" err="1"/>
              <a:t>LangGraph</a:t>
            </a:r>
            <a:r>
              <a:rPr lang="en-IN" sz="1600" b="1" dirty="0"/>
              <a:t>:</a:t>
            </a:r>
            <a:r>
              <a:rPr lang="en-IN" sz="1600" dirty="0"/>
              <a:t> Coordinates agents and conditional workflows. </a:t>
            </a:r>
          </a:p>
          <a:p>
            <a:pPr marL="342900" lvl="0" indent="-342900">
              <a:spcBef>
                <a:spcPts val="100"/>
              </a:spcBef>
              <a:buFont typeface="Arial" panose="020B0604020202020204" pitchFamily="34" charset="0"/>
              <a:buChar char="•"/>
            </a:pPr>
            <a:r>
              <a:rPr lang="en-IN" sz="1600" b="1" dirty="0"/>
              <a:t>Human-in-the-Loop:</a:t>
            </a:r>
            <a:r>
              <a:rPr lang="en-IN" sz="1600" dirty="0"/>
              <a:t> Required before high-impact response actions.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6CC1AC-F0E1-81E9-F0AA-01FE26EAAD6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1950DB6-8980-B068-4277-EAF93E5338AE}"/>
              </a:ext>
            </a:extLst>
          </p:cNvPr>
          <p:cNvSpPr txBox="1"/>
          <p:nvPr/>
        </p:nvSpPr>
        <p:spPr>
          <a:xfrm>
            <a:off x="3697357" y="40894"/>
            <a:ext cx="3995389" cy="584775"/>
          </a:xfrm>
          <a:prstGeom prst="rect">
            <a:avLst/>
          </a:prstGeom>
          <a:noFill/>
        </p:spPr>
        <p:txBody>
          <a:bodyPr wrap="none" rtlCol="0">
            <a:spAutoFit/>
          </a:bodyPr>
          <a:lstStyle/>
          <a:p>
            <a:r>
              <a:rPr lang="en-US" sz="3200" b="1" dirty="0">
                <a:solidFill>
                  <a:srgbClr val="FF0000"/>
                </a:solidFill>
              </a:rPr>
              <a:t>Proposed Architecture</a:t>
            </a:r>
          </a:p>
        </p:txBody>
      </p:sp>
      <p:pic>
        <p:nvPicPr>
          <p:cNvPr id="6" name="Picture 5">
            <a:extLst>
              <a:ext uri="{FF2B5EF4-FFF2-40B4-BE49-F238E27FC236}">
                <a16:creationId xmlns:a16="http://schemas.microsoft.com/office/drawing/2014/main" id="{BB2389FA-F445-0B86-809B-7535E04160B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96312" y="625669"/>
            <a:ext cx="9348496" cy="6232331"/>
          </a:xfrm>
          <a:prstGeom prst="rect">
            <a:avLst/>
          </a:prstGeom>
        </p:spPr>
      </p:pic>
    </p:spTree>
    <p:extLst>
      <p:ext uri="{BB962C8B-B14F-4D97-AF65-F5344CB8AC3E}">
        <p14:creationId xmlns:p14="http://schemas.microsoft.com/office/powerpoint/2010/main" val="207033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4294967295"/>
          </p:nvPr>
        </p:nvSpPr>
        <p:spPr>
          <a:xfrm>
            <a:off x="838200" y="6356352"/>
            <a:ext cx="2743200" cy="365125"/>
          </a:xfrm>
        </p:spPr>
        <p:txBody>
          <a:bodyPr/>
          <a:lstStyle/>
          <a:p>
            <a:fld id="{07700AA1-974B-4C88-ACEC-3AB9509026FD}" type="datetime1">
              <a:rPr lang="en-IN" smtClean="0"/>
              <a:t>23-09-2026</a:t>
            </a:fld>
            <a:endParaRPr lang="en-IN" dirty="0"/>
          </a:p>
        </p:txBody>
      </p:sp>
      <p:sp>
        <p:nvSpPr>
          <p:cNvPr id="4" name="Footer Placeholder 3"/>
          <p:cNvSpPr>
            <a:spLocks noGrp="1"/>
          </p:cNvSpPr>
          <p:nvPr>
            <p:ph type="ftr" sz="quarter" idx="11"/>
          </p:nvPr>
        </p:nvSpPr>
        <p:spPr/>
        <p:txBody>
          <a:bodyPr/>
          <a:lstStyle/>
          <a:p>
            <a:r>
              <a:rPr lang="en-US"/>
              <a:t>Department of </a:t>
            </a:r>
            <a:r>
              <a:rPr lang="en-US" sz="1000"/>
              <a:t>CSE-AIML</a:t>
            </a:r>
            <a:endParaRPr lang="en-US"/>
          </a:p>
          <a:p>
            <a:endParaRPr lang="en-IN" dirty="0"/>
          </a:p>
        </p:txBody>
      </p:sp>
      <p:sp>
        <p:nvSpPr>
          <p:cNvPr id="5" name="Slide Number Placeholder 4"/>
          <p:cNvSpPr>
            <a:spLocks noGrp="1"/>
          </p:cNvSpPr>
          <p:nvPr>
            <p:ph type="sldNum" sz="quarter" idx="4294967295"/>
          </p:nvPr>
        </p:nvSpPr>
        <p:spPr>
          <a:xfrm>
            <a:off x="8610600" y="6356352"/>
            <a:ext cx="3024554" cy="365125"/>
          </a:xfrm>
        </p:spPr>
        <p:txBody>
          <a:bodyPr/>
          <a:lstStyle/>
          <a:p>
            <a:r>
              <a:rPr lang="en-IN"/>
              <a:t>1</a:t>
            </a:r>
            <a:endParaRPr lang="en-IN" dirty="0"/>
          </a:p>
        </p:txBody>
      </p:sp>
      <p:sp>
        <p:nvSpPr>
          <p:cNvPr id="7" name="TextBox 6"/>
          <p:cNvSpPr txBox="1"/>
          <p:nvPr/>
        </p:nvSpPr>
        <p:spPr>
          <a:xfrm>
            <a:off x="4676818" y="117565"/>
            <a:ext cx="2324617" cy="584775"/>
          </a:xfrm>
          <a:prstGeom prst="rect">
            <a:avLst/>
          </a:prstGeom>
          <a:noFill/>
        </p:spPr>
        <p:txBody>
          <a:bodyPr wrap="square">
            <a:spAutoFit/>
          </a:bodyPr>
          <a:lstStyle/>
          <a:p>
            <a:r>
              <a:rPr lang="en-US" sz="3200" b="1" dirty="0">
                <a:solidFill>
                  <a:srgbClr val="FF0000"/>
                </a:solidFill>
              </a:rPr>
              <a:t>References</a:t>
            </a:r>
          </a:p>
        </p:txBody>
      </p:sp>
      <p:sp>
        <p:nvSpPr>
          <p:cNvPr id="6" name="TextBox 5">
            <a:extLst>
              <a:ext uri="{FF2B5EF4-FFF2-40B4-BE49-F238E27FC236}">
                <a16:creationId xmlns:a16="http://schemas.microsoft.com/office/drawing/2014/main" id="{60B8839F-23F9-54FD-08BA-7AB1A1B287EF}"/>
              </a:ext>
            </a:extLst>
          </p:cNvPr>
          <p:cNvSpPr txBox="1"/>
          <p:nvPr/>
        </p:nvSpPr>
        <p:spPr>
          <a:xfrm>
            <a:off x="264367" y="1229465"/>
            <a:ext cx="11370787" cy="4661276"/>
          </a:xfrm>
          <a:prstGeom prst="rect">
            <a:avLst/>
          </a:prstGeom>
          <a:noFill/>
        </p:spPr>
        <p:txBody>
          <a:bodyPr wrap="square">
            <a:spAutoFit/>
          </a:bodyPr>
          <a:lstStyle/>
          <a:p>
            <a:pPr marL="342900" indent="-342900">
              <a:lnSpc>
                <a:spcPct val="150000"/>
              </a:lnSpc>
              <a:buFont typeface="+mj-lt"/>
              <a:buAutoNum type="arabicPeriod"/>
            </a:pPr>
            <a:r>
              <a:rPr lang="en-IN" sz="2000" dirty="0"/>
              <a:t>A Dual-Attention CNN-</a:t>
            </a:r>
            <a:r>
              <a:rPr lang="en-IN" sz="2000" dirty="0" err="1"/>
              <a:t>BiLSTM</a:t>
            </a:r>
            <a:r>
              <a:rPr lang="en-IN" sz="2000" dirty="0"/>
              <a:t> Model for Network Intrusion Detection</a:t>
            </a:r>
          </a:p>
          <a:p>
            <a:pPr marL="342900" lvl="0" indent="-342900">
              <a:lnSpc>
                <a:spcPct val="150000"/>
              </a:lnSpc>
              <a:buFont typeface="+mj-lt"/>
              <a:buAutoNum type="arabicPeriod"/>
            </a:pPr>
            <a:r>
              <a:rPr lang="en-IN" sz="2000" dirty="0"/>
              <a:t>A Unified Generative and Explainable Artificial Intelligence Framework for Trustworthy Intrusion Detection in Cyber-Physical Network</a:t>
            </a:r>
          </a:p>
          <a:p>
            <a:pPr marL="342900" lvl="0" indent="-342900">
              <a:lnSpc>
                <a:spcPct val="150000"/>
              </a:lnSpc>
              <a:buFont typeface="+mj-lt"/>
              <a:buAutoNum type="arabicPeriod"/>
            </a:pPr>
            <a:r>
              <a:rPr lang="en-IN" sz="2000" dirty="0" err="1"/>
              <a:t>Agentra</a:t>
            </a:r>
            <a:r>
              <a:rPr lang="en-IN" sz="2000" dirty="0"/>
              <a:t> - A </a:t>
            </a:r>
            <a:r>
              <a:rPr lang="en-IN" sz="2000" dirty="0" err="1"/>
              <a:t>Supervisable</a:t>
            </a:r>
            <a:r>
              <a:rPr lang="en-IN" sz="2000" dirty="0"/>
              <a:t> Multi-Agent Framework for Enterprise Intrusion Response</a:t>
            </a:r>
          </a:p>
          <a:p>
            <a:pPr marL="342900" lvl="0" indent="-342900">
              <a:lnSpc>
                <a:spcPct val="150000"/>
              </a:lnSpc>
              <a:buFont typeface="+mj-lt"/>
              <a:buAutoNum type="arabicPeriod"/>
            </a:pPr>
            <a:r>
              <a:rPr lang="en-IN" sz="2000" dirty="0"/>
              <a:t>CORTEX - Collaborative LLM Agents for High-Stakes Alert Triage</a:t>
            </a:r>
          </a:p>
          <a:p>
            <a:pPr marL="342900" lvl="0" indent="-342900">
              <a:lnSpc>
                <a:spcPct val="150000"/>
              </a:lnSpc>
              <a:buFont typeface="+mj-lt"/>
              <a:buAutoNum type="arabicPeriod"/>
            </a:pPr>
            <a:r>
              <a:rPr lang="en-IN" sz="2000" dirty="0" err="1"/>
              <a:t>CyberRAG</a:t>
            </a:r>
            <a:r>
              <a:rPr lang="en-IN" sz="2000" dirty="0"/>
              <a:t> - An agentic RAG cyber attack classification and reporting tool</a:t>
            </a:r>
          </a:p>
          <a:p>
            <a:pPr marL="342900" lvl="0" indent="-342900">
              <a:lnSpc>
                <a:spcPct val="150000"/>
              </a:lnSpc>
              <a:buFont typeface="+mj-lt"/>
              <a:buAutoNum type="arabicPeriod"/>
            </a:pPr>
            <a:r>
              <a:rPr lang="en-IN" sz="2000" dirty="0" err="1"/>
              <a:t>eX</a:t>
            </a:r>
            <a:r>
              <a:rPr lang="en-IN" sz="2000" dirty="0"/>
              <a:t>-NIDS - A Framework for Explainable Network Intrusion Detection</a:t>
            </a:r>
          </a:p>
          <a:p>
            <a:pPr marL="342900" lvl="0" indent="-342900">
              <a:lnSpc>
                <a:spcPct val="150000"/>
              </a:lnSpc>
              <a:buFont typeface="+mj-lt"/>
              <a:buAutoNum type="arabicPeriod"/>
            </a:pPr>
            <a:r>
              <a:rPr lang="en-IN" sz="2000" dirty="0"/>
              <a:t>Explainable Deep Neural Network for a Reliable Intrusion Detection System with Shapley Additive Explanation Method</a:t>
            </a:r>
          </a:p>
          <a:p>
            <a:pPr marL="342900" lvl="0" indent="-342900">
              <a:lnSpc>
                <a:spcPct val="150000"/>
              </a:lnSpc>
              <a:buFont typeface="+mj-lt"/>
              <a:buAutoNum type="arabicPeriod"/>
            </a:pPr>
            <a:r>
              <a:rPr lang="en-IN" sz="2000" dirty="0"/>
              <a:t>IRCOPILOT - Automated Incident Response with Large Language Models</a:t>
            </a:r>
          </a:p>
        </p:txBody>
      </p:sp>
    </p:spTree>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251</TotalTime>
  <Words>1219</Words>
  <Application>Microsoft Office PowerPoint</Application>
  <PresentationFormat>Widescreen</PresentationFormat>
  <Paragraphs>133</Paragraphs>
  <Slides>11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Calibri</vt:lpstr>
      <vt:lpstr>Calibri Light</vt:lpstr>
      <vt:lpstr>StarSymbol</vt:lpstr>
      <vt:lpstr>Times New Roman</vt:lpstr>
      <vt:lpstr>Custom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Vamsheedhar Reddy pillareddy</dc:creator>
  <cp:lastModifiedBy>vemparala sai keertana</cp:lastModifiedBy>
  <cp:revision>177</cp:revision>
  <dcterms:created xsi:type="dcterms:W3CDTF">2021-12-29T12:40:00Z</dcterms:created>
  <dcterms:modified xsi:type="dcterms:W3CDTF">2026-09-23T17:45:17Z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1033-12.1.0.28485</vt:lpwstr>
  </property>
  <property fmtid="{D5CDD505-2E9C-101B-9397-08002B2CF9AE}" pid="3" name="ICV">
    <vt:lpwstr>A88AC5556E11420A872A2C357F7193EA_13</vt:lpwstr>
  </property>
</Properties>
</file>